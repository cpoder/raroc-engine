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~30s.</a:t>
            </a:r>
          </a:p>
          <a:p/>
          <a:p>
            <a:r>
              <a:t>WHO IS IN THE ROOM:</a:t>
            </a:r>
          </a:p>
          <a:p>
            <a:r>
              <a:t>  Two profiles, one deck. Left half — CFOs, treasurers, finance directors at mid-cap companies who borrow. Right half — advisors who serve them: treasury consultancies, debt advisory boutiques, fractional CFO firms, accountants with corporate finance practices. Both want the same outcome: better deals from banks.</a:t>
            </a:r>
          </a:p>
          <a:p/>
          <a:p>
            <a:r>
              <a:t>OPENING LINE (memorize, don't paraphrase):</a:t>
            </a:r>
          </a:p>
          <a:p>
            <a:r>
              <a:t>  "Your bank quotes you a number. Until today, you couldn't tell whether it was generous, fair, or daylight robbery. After this demo, you'll know — and so will your next quote."</a:t>
            </a:r>
          </a:p>
          <a:p/>
          <a:p>
            <a:r>
              <a:t>THEN STOP. Let it land. Don't introduce yourself for at least 10 seconds.</a:t>
            </a:r>
          </a:p>
          <a:p/>
          <a:p>
            <a:r>
              <a:t>DON'T:</a:t>
            </a:r>
          </a:p>
          <a:p>
            <a:r>
              <a:t>  • Don't say "we're going to teach you about RAROC". Sounds patronising; half the audience already knows what it is. Just demonstrate.</a:t>
            </a:r>
          </a:p>
          <a:p>
            <a:r>
              <a:t>  • Don't pitch features. We're 30 seconds in.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~75s.</a:t>
            </a:r>
          </a:p>
          <a:p/>
          <a:p>
            <a:r>
              <a:t>THE SETUP:</a:t>
            </a:r>
          </a:p>
          <a:p>
            <a:r>
              <a:t>  Two columns side by side. Left = "what you see today" (a single number quoted by the RM). Right = "what your bank actually sees" (the whole machinery: capital, expected loss, cost-to-income, hurdle rate). Big asymmetry. That's the whole product opportunity.</a:t>
            </a:r>
          </a:p>
          <a:p/>
          <a:p>
            <a:r>
              <a:t>VOCABULARY YOU'LL NEED FOR THIS SLIDE:</a:t>
            </a:r>
          </a:p>
          <a:p>
            <a:r>
              <a:t>  • Spread = the margin the bank charges over a reference rate (EURIBOR, SOFR). 150 bp = 1.5%. The headline number on every term sheet.</a:t>
            </a:r>
          </a:p>
          <a:p>
            <a:r>
              <a:t>  • RAROC = Risk-Adjusted Return on Capital. Bank's internal pricing metric. The full glossary is in GLOSSARY.md but at this slide you can just say "the post-tax return your bank earns on the capital it sets aside for your loan".</a:t>
            </a:r>
          </a:p>
          <a:p>
            <a:r>
              <a:t>  • Pillar 3 / CR6 = annual public disclosure that every IRB-regulated bank must publish. Has the inputs we need to reverse-engineer their pricing.</a:t>
            </a:r>
          </a:p>
          <a:p/>
          <a:p>
            <a:r>
              <a:t>LINE TO LAND ON (the bottom callout):</a:t>
            </a:r>
          </a:p>
          <a:p>
            <a:r>
              <a:t>  "30 basis points on a EUR 50M facility is EUR 750k over the tenor. That's a hire. That's a software stack. That's the dividend your CEO didn't get to announce."</a:t>
            </a:r>
          </a:p>
          <a:p/>
          <a:p>
            <a:r>
              <a:t>IF AN ADVISOR IN THE ROOM ASKS "DO TREASURERS REALLY NOT SEE THIS?":</a:t>
            </a:r>
          </a:p>
          <a:p>
            <a:r>
              <a:t>  → "They see the price. They've never had the model behind it. We did the model."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~60s. Move quickly through the four KPIs; spend more time on the For-You / For-Your-Firm split at the bottom.</a:t>
            </a:r>
          </a:p>
          <a:p/>
          <a:p>
            <a:r>
              <a:t>VOCABULARY:</a:t>
            </a:r>
          </a:p>
          <a:p>
            <a:r>
              <a:t>  • Basel III IRB calculator = the same regulatory math your bank uses internally; we just compute it from the customer side.</a:t>
            </a:r>
          </a:p>
          <a:p>
            <a:r>
              <a:t>  • Min-spread solver = inverts the formula. "What's the lowest spread my bank can accept?". Brent's method, milliseconds per call.</a:t>
            </a:r>
          </a:p>
          <a:p>
            <a:r>
              <a:t>  • MCP = lets AI assistants like Claude / ChatGPT call the engine directly. Niche today, mainstream in 12 months.</a:t>
            </a:r>
          </a:p>
          <a:p>
            <a:r>
              <a:t>  • Pro tier (EUR 49/year) = unlocks all 59 banks; free tier covers the four largest (BNP, HSBC, Deutsche, JPM).</a:t>
            </a:r>
          </a:p>
          <a:p/>
          <a:p>
            <a:r>
              <a:t>DELIVERY:</a:t>
            </a:r>
          </a:p>
          <a:p>
            <a:r>
              <a:t>  Skim the four KPIs in 15 seconds. Land hard on EUR 49 / year — that's the price-of-coffee anchor. Then 30 seconds on the two columns: "for your company" (use the tool) vs "for your firm" (embed/refer/white-label). The split sets up slide 12.</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~75s. The credibility slide. Different from the banker version: here, credibility is for the BUYER — proving the math is auditable, not defending against an internal model dispute.</a:t>
            </a:r>
          </a:p>
          <a:p/>
          <a:p>
            <a:r>
              <a:t>VOCABULARY YOU'LL NEED:</a:t>
            </a:r>
          </a:p>
          <a:p>
            <a:r>
              <a:t>  • PD (Probability of Default) = the chance the borrower defaults within one year. Comes from S&amp;P / Moody's long-run averages mapped to ratings. Baa1 ≈ 0.10%.</a:t>
            </a:r>
          </a:p>
          <a:p>
            <a:r>
              <a:t>  • Risk weight K = the % of your exposure that the bank must hold as regulatory capital. 3-6% for investment grade.</a:t>
            </a:r>
          </a:p>
          <a:p>
            <a:r>
              <a:t>  • LGD (Loss Given Default) = the fraction of exposure the bank actually loses if you default, after recovery. 30-45% typical for unsecured corporate.</a:t>
            </a:r>
          </a:p>
          <a:p>
            <a:r>
              <a:t>  • Output floor = a Basel IV mechanism (2026: 55%, ramping to 72.5% by 2030) that prevents IRB banks from understating capital requirements. Pin from below.</a:t>
            </a:r>
          </a:p>
          <a:p>
            <a:r>
              <a:t>  • EAD (Exposure at Default) = your committed line size adjusted for likely drawdown if you default. CCF (credit conversion factor) is 75% on the undrawn portion of confirmed RCFs.</a:t>
            </a:r>
          </a:p>
          <a:p>
            <a:r>
              <a:t>  • CCF = Credit Conversion Factor. The fraction of an undrawn line that gets included in EAD.</a:t>
            </a:r>
          </a:p>
          <a:p>
            <a:r>
              <a:t>  • IRB / SA = Internal Ratings-Based vs Standardised. IRB = bank's own models; SA = regulatory defaults. The output floor is "55% of SA equivalent".</a:t>
            </a:r>
          </a:p>
          <a:p/>
          <a:p>
            <a:r>
              <a:t>LINE TO LAND ON (the highlighted row):</a:t>
            </a:r>
          </a:p>
          <a:p>
            <a:r>
              <a:t>  "Every parameter in our model comes from your bank's own annual report. Your RM cannot say 'your tool is wrong' without first saying 'our published numbers are wrong'. They won't."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~45s. Set the scene. Don't read the cards — just point.</a:t>
            </a:r>
          </a:p>
          <a:p/>
          <a:p>
            <a:r>
              <a:t>VOCABULARY:</a:t>
            </a:r>
          </a:p>
          <a:p>
            <a:r>
              <a:t>  • Mittelstand = German term for medium-sized industrial. Family / founder owned, EUR 100M-1B revenue, often global niche leaders. The economy's backbone.</a:t>
            </a:r>
          </a:p>
          <a:p>
            <a:r>
              <a:t>  • BBB+ / Baa1 = the same investment-grade credit rating in S&amp;P / Moody's notation. Implied 1-year PD ~0.10%. Typical solid mid-cap.</a:t>
            </a:r>
          </a:p>
          <a:p>
            <a:r>
              <a:t>  • Net leverage = (Net debt) / EBITDA. 2.1x is conservative.</a:t>
            </a:r>
          </a:p>
          <a:p>
            <a:r>
              <a:t>  • RCF = Revolving Credit Facility. Committed line you can draw, repay, redraw at will. Most common corporate credit product.</a:t>
            </a:r>
          </a:p>
          <a:p>
            <a:r>
              <a:t>  • Bullet = principal repaid in one shot at maturity (vs. amortising = scheduled paydowns).</a:t>
            </a:r>
          </a:p>
          <a:p>
            <a:r>
              <a:t>  • GRR = Global Guarantee Recovery Rate. Fraction of exposure covered by a third party (here: parent company guarantees 50%).</a:t>
            </a:r>
          </a:p>
          <a:p>
            <a:r>
              <a:t>  • Confirmed = bank is contractually obligated to fund. CCF is 75% of undrawn under Basel III.</a:t>
            </a:r>
          </a:p>
          <a:p/>
          <a:p>
            <a:r>
              <a:t>THE NARRATIVE HOOK (memorize):</a:t>
            </a:r>
          </a:p>
          <a:p>
            <a:r>
              <a:t>  "Nordwind's CFO, Sabine, got a 150 bp quote from her BNP RM last quarter. She said yes, signed it. Three weeks later her advisor showed her this tool. Today's the post-mortem on what she could have asked for. And what she's going to ask for next time."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~120s. Switch to the live tool here if possible. Pre-fill the deal (see SCENARIO.md for inputs).</a:t>
            </a:r>
          </a:p>
          <a:p/>
          <a:p>
            <a:r>
              <a:t>VOCABULARY YOU'LL NEED LIVE:</a:t>
            </a:r>
          </a:p>
          <a:p>
            <a:r>
              <a:t>  • Revenue = spread × drawn + commitment fee × undrawn + fees. EUR 605k/year on this deal.</a:t>
            </a:r>
          </a:p>
          <a:p>
            <a:r>
              <a:t>  • Cost = the bank's operating cost. ~40% of revenue for plain credit products.</a:t>
            </a:r>
          </a:p>
          <a:p>
            <a:r>
              <a:t>  • EAD = drawn + 75% × undrawn = 35M + 11.25M = 46.25M of effective exposure.</a:t>
            </a:r>
          </a:p>
          <a:p>
            <a:r>
              <a:t>  • PD adjusted by GRR = 0.10% × (1 − 50%) = 0.05% probability of loss.</a:t>
            </a:r>
          </a:p>
          <a:p>
            <a:r>
              <a:t>  • K = 4.26% — capital % required against this exposure. Output floor (55% of SA) is what's actually binding here.</a:t>
            </a:r>
          </a:p>
          <a:p>
            <a:r>
              <a:t>  • FPE (Fonds Propres Économiques) = EAD × K = EUR 1.97M of BNP's equity locked up against this single facility for the life of the deal. French term, used in this engine because the original model was French. = "economic capital".</a:t>
            </a:r>
          </a:p>
          <a:p>
            <a:r>
              <a:t>  • EL (Expected Loss) = EAD × adjusted PD = EUR 23k/year of probable losses. Tiny.</a:t>
            </a:r>
          </a:p>
          <a:p>
            <a:r>
              <a:t>  • Net margin = Rev − Cost − Funding − EL + (Risk-free × FPE).</a:t>
            </a:r>
          </a:p>
          <a:p>
            <a:r>
              <a:t>  • RAROC = (1 − tax) × [(Rev − Cost − Funding − EL) / FPE + Risk-free rate]. Result: 12.52%.</a:t>
            </a:r>
          </a:p>
          <a:p>
            <a:r>
              <a:t>  • Hurdle rate = the bank's internal target. 12% is typical for European universal banks. 14-15% for US. 9% for retail-heavy.</a:t>
            </a:r>
          </a:p>
          <a:p/>
          <a:p>
            <a:r>
              <a:t>THE ANCHOR (memorize):</a:t>
            </a:r>
          </a:p>
          <a:p>
            <a:r>
              <a:t>  "BNP is comfortable. RAROC of 12.52% sits right above the typical 12% hurdle. The number Sabine never knew: BNP has roughly EUR 23,000 of margin per year they could give back and still hit hurdle. They were never going to volunteer that."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~75s. The challenge slide. Walk the right column slowly — these are the four lines Sabine should put in her next email to the RM.</a:t>
            </a:r>
          </a:p>
          <a:p/>
          <a:p>
            <a:r>
              <a:t>VOCABULARY:</a:t>
            </a:r>
          </a:p>
          <a:p>
            <a:r>
              <a:t>  • Output floor binding = the IRB-computed K is below the floor, so the customer pays for the higher floor instead. A bank that doesn't yet apply 55% will look cheaper today and re-quote in 2027.</a:t>
            </a:r>
          </a:p>
          <a:p>
            <a:r>
              <a:t>  • Internal hurdle = 12% is industry-typical but not universal. Some banks publicly target 11%, some 13%. ROTE in the annual report is the proxy.</a:t>
            </a:r>
          </a:p>
          <a:p>
            <a:r>
              <a:t>  • Cross-sell logic = the RM may agree to lower stand-alone credit RAROC if the wallet (FX, cash, hedging, advisory) makes it up. That's leverage.</a:t>
            </a:r>
          </a:p>
          <a:p/>
          <a:p>
            <a:r>
              <a:t>DELIVERY:</a:t>
            </a:r>
          </a:p>
          <a:p>
            <a:r>
              <a:t>  This is the "what you walk out with" slide. The audience will lean forward — these are the four sentences they don't currently have. Read them out loud one by one. Pause after each.</a:t>
            </a:r>
          </a:p>
          <a:p/>
          <a:p>
            <a:r>
              <a:t>DON'T ad-lib past these four — they're calibrated. Adding a fifth weakens the others.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~120s. Switch to the live tool: Bank Comparison tab. Tick all 8, run.</a:t>
            </a:r>
          </a:p>
          <a:p/>
          <a:p>
            <a:r>
              <a:t>VOCABULARY:</a:t>
            </a:r>
          </a:p>
          <a:p>
            <a:r>
              <a:t>  • Min spread = the lowest spread that hits each bank's 12% hurdle, given everything else fixed.</a:t>
            </a:r>
          </a:p>
          <a:p>
            <a:r>
              <a:t>  • Cheapest vs most expensive = JP Morgan can do this at 123 bp; Deutsche needs 156 bp. Same risk profile to Nordwind, 33 bp gap.</a:t>
            </a:r>
          </a:p>
          <a:p/>
          <a:p>
            <a:r>
              <a:t>THE STORY (3 levels, memorize order):</a:t>
            </a:r>
          </a:p>
          <a:p>
            <a:r>
              <a:t>  1. "JP Morgan would do this deal at 123 bp. BNP needs 143. Same risk to Nordwind. That's a 20 basis point gap that's now visible to you."</a:t>
            </a:r>
          </a:p>
          <a:p>
            <a:r>
              <a:t>  2. "Deutsche Bank can't do it under 156 — they're losing money below that. So when Deutsche says 'best we can do is 145', they're being generous, not stingy. Knowing the difference matters."</a:t>
            </a:r>
          </a:p>
          <a:p>
            <a:r>
              <a:t>  3. "Nordwind doesn't have to switch banks. They have to walk into the room with the chart on slide 8."</a:t>
            </a:r>
          </a:p>
          <a:p/>
          <a:p>
            <a:r>
              <a:t>TONE WARNING:</a:t>
            </a:r>
          </a:p>
          <a:p>
            <a:r>
              <a:t>  Don't trash any specific bank by name. JPM's high-RAROC isn't them being cheap; it's tax + scale. Deutsche's high min-spread isn't incompetence; it's CTI + funding cost. Frame the dispersion as structural, not malicious.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~75s. Three columns, ~25s each. Land on CTI hardest — it's the most defensible point.</a:t>
            </a:r>
          </a:p>
          <a:p/>
          <a:p>
            <a:r>
              <a:t>VOCABULARY:</a:t>
            </a:r>
          </a:p>
          <a:p>
            <a:r>
              <a:t>  • CTI = Cost-to-Income ratio. Operating costs / net banking income. Public, audited, in every annual report. Bank's headline efficiency number. Lower = leaner.</a:t>
            </a:r>
          </a:p>
          <a:p>
            <a:r>
              <a:t>  • Effective tax rate (ETR) = actual tax paid / pre-tax income. Geography-driven mostly. US banks ~21% post-TCJA, EU 25-28%.</a:t>
            </a:r>
          </a:p>
          <a:p>
            <a:r>
              <a:t>  • Output floor / LGD floors = Basel IV mechanisms. LGD floors: 25% unsecured, 10% receivables-secured, 0% financial collateral. Phase-in 2025-2030.</a:t>
            </a:r>
          </a:p>
          <a:p/>
          <a:p>
            <a:r>
              <a:t>THE PIVOT TO THE CFO ACTION (memorize):</a:t>
            </a:r>
          </a:p>
          <a:p>
            <a:r>
              <a:t>  "You're not negotiating the math. You're using the math to negotiate. Walk into the meeting saying 'your CTI is 62% — ten points above ING — and that's making my deal more expensive than it should be'. The RM cannot answer that with a vague 'market conditions' anymore."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~90s. Live: same deal in the tool, click the "Solve minimum spread" button, target = 12%, returns 143 bp.</a:t>
            </a:r>
          </a:p>
          <a:p/>
          <a:p>
            <a:r>
              <a:t>VOCABULARY:</a:t>
            </a:r>
          </a:p>
          <a:p>
            <a:r>
              <a:t>  • Brent's method = numerical root finder. 5 ms per call. Don't go deep unless asked.</a:t>
            </a:r>
          </a:p>
          <a:p>
            <a:r>
              <a:t>  • "Run backwards" = same engine, RAROC as input, spread as output.</a:t>
            </a:r>
          </a:p>
          <a:p/>
          <a:p>
            <a:r>
              <a:t>THE PUNCHLINE (memorize):</a:t>
            </a:r>
          </a:p>
          <a:p>
            <a:r>
              <a:t>  "Sabine walks into the next meeting with this table on her iPad. Her opening line is 'I know your floor on this deal is 143. Let's start there'. The negotiation that used to take three calls now takes thirty seconds. The RM either matches, walks, or counters with a bundle. All three outcomes are wins for Sabine compared to where she started."</a:t>
            </a:r>
          </a:p>
          <a:p/>
          <a:p>
            <a:r>
              <a:t>DELIVERY HACK:</a:t>
            </a:r>
          </a:p>
          <a:p>
            <a:r>
              <a:t>  If you have a tablet or second laptop, actually mirror the live tool while you say this. The visual of the table appearing on demand sells the moment.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~75s. The outcome slide. Three plausible endings. Walk left to right. Frame as "the spectrum Sabine controls now".</a:t>
            </a:r>
          </a:p>
          <a:p/>
          <a:p>
            <a:r>
              <a:t>THE THREE OUTCOMES IN ONE LINE EACH:</a:t>
            </a:r>
          </a:p>
          <a:p>
            <a:r>
              <a:t>  1. RM matches at 143 → Sabine saves EUR 23k / year × 5 years = EUR 116k locked in.</a:t>
            </a:r>
          </a:p>
          <a:p>
            <a:r>
              <a:t>  2. RM bundles down to 135 + cross-sell concession → Sabine saves ~EUR 75k / year and locks in FX pricing for 3 years. Best outcome.</a:t>
            </a:r>
          </a:p>
          <a:p>
            <a:r>
              <a:t>  3. RM holds at 150 → Sabine takes the file to ING (12.25% RAROC at 150 bp, has more room). BNP loses the renewal.</a:t>
            </a:r>
          </a:p>
          <a:p/>
          <a:p>
            <a:r>
              <a:t>ALL THREE ARE WINS FOR SABINE. That's the killer point. Today she has zero of these levers. After OpenRAROC she has all three.</a:t>
            </a:r>
          </a:p>
          <a:p/>
          <a:p>
            <a:r>
              <a:t>THE LINE TO LAND ON:</a:t>
            </a:r>
          </a:p>
          <a:p>
            <a:r>
              <a:t>  "The deal still gets done. The question is whether you're driving the conversation or being driven by it."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~75s. Two doors. One for each side of the room. Don't pitch — just open the doors.</a:t>
            </a:r>
          </a:p>
          <a:p/>
          <a:p>
            <a:r>
              <a:t>DOOR A (corporate audience):</a:t>
            </a:r>
          </a:p>
          <a:p>
            <a:r>
              <a:t>  • Free tier: 4 banks, full calculator, full bank comparison. Plenty for one-off use on a single facility.</a:t>
            </a:r>
          </a:p>
          <a:p>
            <a:r>
              <a:t>  • Pro: EUR 49/year, all 59 banks, portfolio optimizer (allocate facilities across banks to minimise total cost subject to wallet constraints), PDF reports, API access.</a:t>
            </a:r>
          </a:p>
          <a:p>
            <a:r>
              <a:t>  • Onboarding: 30 minutes from signup to your first portfolio comparison. No procurement cycle at this price point.</a:t>
            </a:r>
          </a:p>
          <a:p/>
          <a:p>
            <a:r>
              <a:t>DOOR B (partner / advisor audience):</a:t>
            </a:r>
          </a:p>
          <a:p>
            <a:r>
              <a:t>  • Referral: send your clients to openraroc.com, get 20% recurring. White-glove onboarding for your top tier.</a:t>
            </a:r>
          </a:p>
          <a:p>
            <a:r>
              <a:t>  • White-label: brand the engine + bank profiles as your own product. Same calculator, your logo, your domain.</a:t>
            </a:r>
          </a:p>
          <a:p>
            <a:r>
              <a:t>  • OEM: deeper embed via API + MCP server. Plug RAROC into your existing client portal, advisory dashboard, or treasury tool.</a:t>
            </a:r>
          </a:p>
          <a:p/>
          <a:p>
            <a:r>
              <a:t>CLOSING LINE (memorize, do not paraphrase):</a:t>
            </a:r>
          </a:p>
          <a:p>
            <a:r>
              <a:t>  "Two days from now, half of you will have run a deal through the free tier on a real facility. One in ten of you will be on Pro within a month. Three of you will email me about the partner program. That's the predictable distribution. The unpredictable part is which three."</a:t>
            </a:r>
          </a:p>
          <a:p/>
          <a:p>
            <a:r>
              <a:t>THEN: pause. Take questions. Have the laptop and openraroc.com open behind you for the live walkthrough requests.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48640"/>
            <a:ext cx="7315200" cy="457200"/>
          </a:xfrm>
          <a:prstGeom prst="rect">
            <a:avLst/>
          </a:prstGeom>
          <a:noFill/>
        </p:spPr>
        <p:txBody>
          <a:bodyPr wrap="square" lIns="0" rIns="0" tIns="0" bIns="0" anchor="t">
            <a:spAutoFit/>
          </a:bodyPr>
          <a:lstStyle/>
          <a:p>
            <a:pPr algn="l"/>
            <a:r>
              <a:rPr sz="2200" b="1">
                <a:solidFill>
                  <a:srgbClr val="FFFFFF"/>
                </a:solidFill>
                <a:latin typeface="Calibri"/>
              </a:rPr>
              <a:t>OpenRAROC</a:t>
            </a:r>
          </a:p>
        </p:txBody>
      </p:sp>
      <p:sp>
        <p:nvSpPr>
          <p:cNvPr id="4" name="TextBox 3"/>
          <p:cNvSpPr txBox="1"/>
          <p:nvPr/>
        </p:nvSpPr>
        <p:spPr>
          <a:xfrm>
            <a:off x="640080" y="1005840"/>
            <a:ext cx="7315200" cy="365760"/>
          </a:xfrm>
          <a:prstGeom prst="rect">
            <a:avLst/>
          </a:prstGeom>
          <a:noFill/>
        </p:spPr>
        <p:txBody>
          <a:bodyPr wrap="square" lIns="0" rIns="0" tIns="0" bIns="0" anchor="t">
            <a:spAutoFit/>
          </a:bodyPr>
          <a:lstStyle/>
          <a:p>
            <a:pPr algn="l"/>
            <a:r>
              <a:rPr sz="1200" b="0">
                <a:solidFill>
                  <a:srgbClr val="38BDF8"/>
                </a:solidFill>
                <a:latin typeface="Calibri"/>
              </a:rPr>
              <a:t>openraroc.com</a:t>
            </a:r>
          </a:p>
        </p:txBody>
      </p:sp>
      <p:sp>
        <p:nvSpPr>
          <p:cNvPr id="5" name="TextBox 4"/>
          <p:cNvSpPr txBox="1"/>
          <p:nvPr/>
        </p:nvSpPr>
        <p:spPr>
          <a:xfrm>
            <a:off x="640080" y="2194560"/>
            <a:ext cx="10972800" cy="1371600"/>
          </a:xfrm>
          <a:prstGeom prst="rect">
            <a:avLst/>
          </a:prstGeom>
          <a:noFill/>
        </p:spPr>
        <p:txBody>
          <a:bodyPr wrap="square" lIns="0" rIns="0" tIns="0" bIns="0" anchor="t">
            <a:spAutoFit/>
          </a:bodyPr>
          <a:lstStyle/>
          <a:p>
            <a:pPr algn="l"/>
            <a:r>
              <a:rPr sz="4200" b="1">
                <a:solidFill>
                  <a:srgbClr val="FFFFFF"/>
                </a:solidFill>
                <a:latin typeface="Calibri"/>
              </a:rPr>
              <a:t>Negotiate your bank pricing
with the math your bank uses internally.</a:t>
            </a:r>
          </a:p>
        </p:txBody>
      </p:sp>
      <p:sp>
        <p:nvSpPr>
          <p:cNvPr id="6" name="TextBox 5"/>
          <p:cNvSpPr txBox="1"/>
          <p:nvPr/>
        </p:nvSpPr>
        <p:spPr>
          <a:xfrm>
            <a:off x="640080" y="3840480"/>
            <a:ext cx="10972800" cy="640080"/>
          </a:xfrm>
          <a:prstGeom prst="rect">
            <a:avLst/>
          </a:prstGeom>
          <a:noFill/>
        </p:spPr>
        <p:txBody>
          <a:bodyPr wrap="square" lIns="0" rIns="0" tIns="0" bIns="0" anchor="t">
            <a:spAutoFit/>
          </a:bodyPr>
          <a:lstStyle/>
          <a:p>
            <a:pPr algn="l"/>
            <a:r>
              <a:rPr sz="2200" b="0">
                <a:solidFill>
                  <a:srgbClr val="38BDF8"/>
                </a:solidFill>
                <a:latin typeface="Calibri"/>
              </a:rPr>
              <a:t>A live demo — for treasurers and the advisors who serve them.</a:t>
            </a:r>
          </a:p>
        </p:txBody>
      </p:sp>
      <p:cxnSp>
        <p:nvCxnSpPr>
          <p:cNvPr id="7" name="Connector 6"/>
          <p:cNvCxnSpPr/>
          <p:nvPr/>
        </p:nvCxnSpPr>
        <p:spPr>
          <a:xfrm>
            <a:off x="640080" y="4937760"/>
            <a:ext cx="3931920" cy="0"/>
          </a:xfrm>
          <a:prstGeom prst="line">
            <a:avLst/>
          </a:prstGeom>
          <a:ln w="12700">
            <a:solidFill>
              <a:srgbClr val="475569"/>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40080" y="5074920"/>
            <a:ext cx="7315200" cy="365760"/>
          </a:xfrm>
          <a:prstGeom prst="rect">
            <a:avLst/>
          </a:prstGeom>
          <a:noFill/>
        </p:spPr>
        <p:txBody>
          <a:bodyPr wrap="square" lIns="0" rIns="0" tIns="0" bIns="0" anchor="t">
            <a:spAutoFit/>
          </a:bodyPr>
          <a:lstStyle/>
          <a:p>
            <a:pPr algn="l"/>
            <a:r>
              <a:rPr sz="1400" b="0">
                <a:solidFill>
                  <a:srgbClr val="94A3B8"/>
                </a:solidFill>
                <a:latin typeface="Calibri"/>
              </a:rPr>
              <a:t>10–15 minutes  •  one realistic mid-cap deal, three chapters</a:t>
            </a:r>
          </a:p>
        </p:txBody>
      </p:sp>
      <p:sp>
        <p:nvSpPr>
          <p:cNvPr id="9" name="TextBox 8"/>
          <p:cNvSpPr txBox="1"/>
          <p:nvPr/>
        </p:nvSpPr>
        <p:spPr>
          <a:xfrm>
            <a:off x="640080" y="5440680"/>
            <a:ext cx="7315200" cy="365760"/>
          </a:xfrm>
          <a:prstGeom prst="rect">
            <a:avLst/>
          </a:prstGeom>
          <a:noFill/>
        </p:spPr>
        <p:txBody>
          <a:bodyPr wrap="square" lIns="0" rIns="0" tIns="0" bIns="0" anchor="t">
            <a:spAutoFit/>
          </a:bodyPr>
          <a:lstStyle/>
          <a:p>
            <a:pPr algn="l"/>
            <a:r>
              <a:rPr sz="1200" b="0">
                <a:solidFill>
                  <a:srgbClr val="64748B"/>
                </a:solidFill>
                <a:latin typeface="Calibri"/>
              </a:rPr>
              <a:t>Live walk-through in the tool — bring questions</a:t>
            </a:r>
          </a:p>
        </p:txBody>
      </p:sp>
      <p:sp>
        <p:nvSpPr>
          <p:cNvPr id="10" name="TextBox 9"/>
          <p:cNvSpPr txBox="1"/>
          <p:nvPr/>
        </p:nvSpPr>
        <p:spPr>
          <a:xfrm>
            <a:off x="640080" y="6400800"/>
            <a:ext cx="7315200" cy="274320"/>
          </a:xfrm>
          <a:prstGeom prst="rect">
            <a:avLst/>
          </a:prstGeom>
          <a:noFill/>
        </p:spPr>
        <p:txBody>
          <a:bodyPr wrap="square" lIns="0" rIns="0" tIns="0" bIns="0" anchor="t">
            <a:spAutoFit/>
          </a:bodyPr>
          <a:lstStyle/>
          <a:p>
            <a:pPr algn="l"/>
            <a:r>
              <a:rPr sz="1000" b="0">
                <a:solidFill>
                  <a:srgbClr val="64748B"/>
                </a:solidFill>
                <a:latin typeface="Calibri"/>
              </a:rPr>
              <a:t>Cyril Poder  •  cyril.poder@gmail.com</a:t>
            </a:r>
          </a:p>
        </p:txBody>
      </p:sp>
      <p:sp>
        <p:nvSpPr>
          <p:cNvPr id="11" name="TextBox 10"/>
          <p:cNvSpPr txBox="1"/>
          <p:nvPr/>
        </p:nvSpPr>
        <p:spPr>
          <a:xfrm>
            <a:off x="10058400" y="6400800"/>
            <a:ext cx="1828800" cy="274320"/>
          </a:xfrm>
          <a:prstGeom prst="rect">
            <a:avLst/>
          </a:prstGeom>
          <a:noFill/>
        </p:spPr>
        <p:txBody>
          <a:bodyPr wrap="square" lIns="0" rIns="0" tIns="0" bIns="0" anchor="t">
            <a:spAutoFit/>
          </a:bodyPr>
          <a:lstStyle/>
          <a:p>
            <a:pPr algn="r"/>
            <a:r>
              <a:rPr sz="1000" b="0">
                <a:solidFill>
                  <a:srgbClr val="64748B"/>
                </a:solidFill>
                <a:latin typeface="Calibri"/>
              </a:rPr>
              <a:t>1 / 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ounded Rectangle 1"/>
          <p:cNvSpPr/>
          <p:nvPr/>
        </p:nvSpPr>
        <p:spPr>
          <a:xfrm>
            <a:off x="457200" y="365760"/>
            <a:ext cx="1645920" cy="292608"/>
          </a:xfrm>
          <a:prstGeom prst="roundRect">
            <a:avLst>
              <a:gd name="adj" fmla="val 50000"/>
            </a:avLst>
          </a:prstGeom>
          <a:solidFill>
            <a:srgbClr val="1E293B"/>
          </a:solidFill>
          <a:ln w="9525">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38BDF8"/>
                </a:solidFill>
                <a:latin typeface="Calibri"/>
              </a:rPr>
              <a:t>THE PROBLEM</a:t>
            </a:r>
          </a:p>
        </p:txBody>
      </p:sp>
      <p:sp>
        <p:nvSpPr>
          <p:cNvPr id="3" name="TextBox 2"/>
          <p:cNvSpPr txBox="1"/>
          <p:nvPr/>
        </p:nvSpPr>
        <p:spPr>
          <a:xfrm>
            <a:off x="457200" y="777240"/>
            <a:ext cx="10972800" cy="640080"/>
          </a:xfrm>
          <a:prstGeom prst="rect">
            <a:avLst/>
          </a:prstGeom>
          <a:noFill/>
        </p:spPr>
        <p:txBody>
          <a:bodyPr wrap="square" lIns="0" rIns="0" tIns="0" bIns="0" anchor="t">
            <a:spAutoFit/>
          </a:bodyPr>
          <a:lstStyle/>
          <a:p>
            <a:pPr algn="l"/>
            <a:r>
              <a:rPr sz="3000" b="1">
                <a:solidFill>
                  <a:srgbClr val="FFFFFF"/>
                </a:solidFill>
                <a:latin typeface="Calibri"/>
              </a:rPr>
              <a:t>Your bank quotes one number. They model fifteen.</a:t>
            </a:r>
          </a:p>
        </p:txBody>
      </p:sp>
      <p:sp>
        <p:nvSpPr>
          <p:cNvPr id="4" name="TextBox 3"/>
          <p:cNvSpPr txBox="1"/>
          <p:nvPr/>
        </p:nvSpPr>
        <p:spPr>
          <a:xfrm>
            <a:off x="457200" y="1371600"/>
            <a:ext cx="10972800" cy="365760"/>
          </a:xfrm>
          <a:prstGeom prst="rect">
            <a:avLst/>
          </a:prstGeom>
          <a:noFill/>
        </p:spPr>
        <p:txBody>
          <a:bodyPr wrap="square" lIns="0" rIns="0" tIns="0" bIns="0" anchor="t">
            <a:spAutoFit/>
          </a:bodyPr>
          <a:lstStyle/>
          <a:p>
            <a:pPr algn="l"/>
            <a:r>
              <a:rPr sz="1400" b="0">
                <a:solidFill>
                  <a:srgbClr val="94A3B8"/>
                </a:solidFill>
                <a:latin typeface="Calibri"/>
              </a:rPr>
              <a:t>And you negotiate against the one.</a:t>
            </a:r>
          </a:p>
        </p:txBody>
      </p:sp>
      <p:sp>
        <p:nvSpPr>
          <p:cNvPr id="5" name="TextBox 4"/>
          <p:cNvSpPr txBox="1"/>
          <p:nvPr/>
        </p:nvSpPr>
        <p:spPr>
          <a:xfrm>
            <a:off x="457200" y="6400800"/>
            <a:ext cx="6400800" cy="274320"/>
          </a:xfrm>
          <a:prstGeom prst="rect">
            <a:avLst/>
          </a:prstGeom>
          <a:noFill/>
        </p:spPr>
        <p:txBody>
          <a:bodyPr wrap="square" lIns="0" rIns="0" tIns="0" bIns="0" anchor="t">
            <a:spAutoFit/>
          </a:bodyPr>
          <a:lstStyle/>
          <a:p>
            <a:pPr algn="l"/>
            <a:r>
              <a:rPr sz="1000" b="0">
                <a:solidFill>
                  <a:srgbClr val="64748B"/>
                </a:solidFill>
                <a:latin typeface="Calibri"/>
              </a:rPr>
              <a:t>OpenRAROC  •  See your credit through your banker's eyes</a:t>
            </a:r>
          </a:p>
        </p:txBody>
      </p:sp>
      <p:sp>
        <p:nvSpPr>
          <p:cNvPr id="6" name="TextBox 5"/>
          <p:cNvSpPr txBox="1"/>
          <p:nvPr/>
        </p:nvSpPr>
        <p:spPr>
          <a:xfrm>
            <a:off x="10058400" y="6400800"/>
            <a:ext cx="1828800" cy="274320"/>
          </a:xfrm>
          <a:prstGeom prst="rect">
            <a:avLst/>
          </a:prstGeom>
          <a:noFill/>
        </p:spPr>
        <p:txBody>
          <a:bodyPr wrap="square" lIns="0" rIns="0" tIns="0" bIns="0" anchor="t">
            <a:spAutoFit/>
          </a:bodyPr>
          <a:lstStyle/>
          <a:p>
            <a:pPr algn="r"/>
            <a:r>
              <a:rPr sz="1000" b="0">
                <a:solidFill>
                  <a:srgbClr val="64748B"/>
                </a:solidFill>
                <a:latin typeface="Calibri"/>
              </a:rPr>
              <a:t>2 / 12</a:t>
            </a:r>
          </a:p>
        </p:txBody>
      </p:sp>
      <p:sp>
        <p:nvSpPr>
          <p:cNvPr id="7" name="Rectangle 6"/>
          <p:cNvSpPr/>
          <p:nvPr/>
        </p:nvSpPr>
        <p:spPr>
          <a:xfrm>
            <a:off x="457200" y="1920240"/>
            <a:ext cx="5577840" cy="2011680"/>
          </a:xfrm>
          <a:prstGeom prst="rect">
            <a:avLst/>
          </a:prstGeom>
          <a:solidFill>
            <a:srgbClr val="1E293B"/>
          </a:solidFill>
          <a:ln w="9525">
            <a:solidFill>
              <a:srgbClr val="4755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2103120"/>
            <a:ext cx="5120640" cy="365760"/>
          </a:xfrm>
          <a:prstGeom prst="rect">
            <a:avLst/>
          </a:prstGeom>
          <a:noFill/>
        </p:spPr>
        <p:txBody>
          <a:bodyPr wrap="square" lIns="0" rIns="0" tIns="0" bIns="0" anchor="t">
            <a:spAutoFit/>
          </a:bodyPr>
          <a:lstStyle/>
          <a:p>
            <a:pPr algn="l"/>
            <a:r>
              <a:rPr sz="1400" b="1">
                <a:solidFill>
                  <a:srgbClr val="94A3B8"/>
                </a:solidFill>
                <a:latin typeface="Calibri"/>
              </a:rPr>
              <a:t>What you see on the term sheet</a:t>
            </a:r>
          </a:p>
        </p:txBody>
      </p:sp>
      <p:sp>
        <p:nvSpPr>
          <p:cNvPr id="9" name="TextBox 8"/>
          <p:cNvSpPr txBox="1"/>
          <p:nvPr/>
        </p:nvSpPr>
        <p:spPr>
          <a:xfrm>
            <a:off x="685800" y="2560320"/>
            <a:ext cx="5120640" cy="1188720"/>
          </a:xfrm>
          <a:prstGeom prst="rect">
            <a:avLst/>
          </a:prstGeom>
          <a:noFill/>
        </p:spPr>
        <p:txBody>
          <a:bodyPr wrap="square" lIns="0" rIns="0" tIns="0" bIns="0">
            <a:spAutoFit/>
          </a:bodyPr>
          <a:lstStyle/>
          <a:p>
            <a:pPr>
              <a:lnSpc>
                <a:spcPct val="125000"/>
              </a:lnSpc>
              <a:spcAft>
                <a:spcPts val="400"/>
              </a:spcAft>
            </a:pPr>
            <a:r>
              <a:rPr sz="1200">
                <a:solidFill>
                  <a:srgbClr val="E2E8F0"/>
                </a:solidFill>
                <a:latin typeface="Calibri"/>
              </a:rPr>
              <a:t>•  "150 bp over EURIBOR + 20 bp commitment fee."</a:t>
            </a:r>
          </a:p>
          <a:p>
            <a:pPr>
              <a:lnSpc>
                <a:spcPct val="125000"/>
              </a:lnSpc>
              <a:spcAft>
                <a:spcPts val="400"/>
              </a:spcAft>
            </a:pPr>
            <a:r>
              <a:rPr sz="1200">
                <a:solidFill>
                  <a:srgbClr val="E2E8F0"/>
                </a:solidFill>
                <a:latin typeface="Calibri"/>
              </a:rPr>
              <a:t>•  "Subject to credit committee approval."</a:t>
            </a:r>
          </a:p>
          <a:p>
            <a:pPr>
              <a:lnSpc>
                <a:spcPct val="125000"/>
              </a:lnSpc>
              <a:spcAft>
                <a:spcPts val="400"/>
              </a:spcAft>
            </a:pPr>
            <a:r>
              <a:rPr sz="1200">
                <a:solidFill>
                  <a:srgbClr val="E2E8F0"/>
                </a:solidFill>
                <a:latin typeface="Calibri"/>
              </a:rPr>
              <a:t>•  "Best we can do given current market conditions."</a:t>
            </a:r>
          </a:p>
          <a:p>
            <a:pPr>
              <a:lnSpc>
                <a:spcPct val="125000"/>
              </a:lnSpc>
              <a:spcAft>
                <a:spcPts val="400"/>
              </a:spcAft>
            </a:pPr>
            <a:r>
              <a:rPr sz="1200">
                <a:solidFill>
                  <a:srgbClr val="E2E8F0"/>
                </a:solidFill>
                <a:latin typeface="Calibri"/>
              </a:rPr>
              <a:t>•  Total information you have to push back: zero.</a:t>
            </a:r>
          </a:p>
        </p:txBody>
      </p:sp>
      <p:sp>
        <p:nvSpPr>
          <p:cNvPr id="10" name="Rectangle 9"/>
          <p:cNvSpPr/>
          <p:nvPr/>
        </p:nvSpPr>
        <p:spPr>
          <a:xfrm>
            <a:off x="6263640" y="1920240"/>
            <a:ext cx="5486400" cy="2011680"/>
          </a:xfrm>
          <a:prstGeom prst="rect">
            <a:avLst/>
          </a:prstGeom>
          <a:solidFill>
            <a:srgbClr val="1E293B"/>
          </a:solidFill>
          <a:ln w="9525">
            <a:solidFill>
              <a:srgbClr val="4755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2103120"/>
            <a:ext cx="5029200" cy="365760"/>
          </a:xfrm>
          <a:prstGeom prst="rect">
            <a:avLst/>
          </a:prstGeom>
          <a:noFill/>
        </p:spPr>
        <p:txBody>
          <a:bodyPr wrap="square" lIns="0" rIns="0" tIns="0" bIns="0" anchor="t">
            <a:spAutoFit/>
          </a:bodyPr>
          <a:lstStyle/>
          <a:p>
            <a:pPr algn="l"/>
            <a:r>
              <a:rPr sz="1400" b="1">
                <a:solidFill>
                  <a:srgbClr val="38BDF8"/>
                </a:solidFill>
                <a:latin typeface="Calibri"/>
              </a:rPr>
              <a:t>What your RM defends internally</a:t>
            </a:r>
          </a:p>
        </p:txBody>
      </p:sp>
      <p:sp>
        <p:nvSpPr>
          <p:cNvPr id="12" name="TextBox 11"/>
          <p:cNvSpPr txBox="1"/>
          <p:nvPr/>
        </p:nvSpPr>
        <p:spPr>
          <a:xfrm>
            <a:off x="6492240" y="2560320"/>
            <a:ext cx="5029200" cy="1188720"/>
          </a:xfrm>
          <a:prstGeom prst="rect">
            <a:avLst/>
          </a:prstGeom>
          <a:noFill/>
        </p:spPr>
        <p:txBody>
          <a:bodyPr wrap="square" lIns="0" rIns="0" tIns="0" bIns="0">
            <a:spAutoFit/>
          </a:bodyPr>
          <a:lstStyle/>
          <a:p>
            <a:pPr>
              <a:lnSpc>
                <a:spcPct val="125000"/>
              </a:lnSpc>
              <a:spcAft>
                <a:spcPts val="400"/>
              </a:spcAft>
            </a:pPr>
            <a:r>
              <a:rPr sz="1200">
                <a:solidFill>
                  <a:srgbClr val="E2E8F0"/>
                </a:solidFill>
                <a:latin typeface="Calibri"/>
              </a:rPr>
              <a:t>•  Risk weight K, FPE, EAD, expected loss.</a:t>
            </a:r>
          </a:p>
          <a:p>
            <a:pPr>
              <a:lnSpc>
                <a:spcPct val="125000"/>
              </a:lnSpc>
              <a:spcAft>
                <a:spcPts val="400"/>
              </a:spcAft>
            </a:pPr>
            <a:r>
              <a:rPr sz="1200">
                <a:solidFill>
                  <a:srgbClr val="E2E8F0"/>
                </a:solidFill>
                <a:latin typeface="Calibri"/>
              </a:rPr>
              <a:t>•  Funding cost, output floor, hurdle rate.</a:t>
            </a:r>
          </a:p>
          <a:p>
            <a:pPr>
              <a:lnSpc>
                <a:spcPct val="125000"/>
              </a:lnSpc>
              <a:spcAft>
                <a:spcPts val="400"/>
              </a:spcAft>
            </a:pPr>
            <a:r>
              <a:rPr sz="1200">
                <a:solidFill>
                  <a:srgbClr val="E2E8F0"/>
                </a:solidFill>
                <a:latin typeface="Calibri"/>
              </a:rPr>
              <a:t>•  Cost-to-income ratio, effective tax rate.</a:t>
            </a:r>
          </a:p>
          <a:p>
            <a:pPr>
              <a:lnSpc>
                <a:spcPct val="125000"/>
              </a:lnSpc>
              <a:spcAft>
                <a:spcPts val="400"/>
              </a:spcAft>
            </a:pPr>
            <a:r>
              <a:rPr sz="1200">
                <a:solidFill>
                  <a:srgbClr val="E2E8F0"/>
                </a:solidFill>
                <a:latin typeface="Calibri"/>
              </a:rPr>
              <a:t>•  All public. All extractable. All in OpenRAROC.</a:t>
            </a:r>
          </a:p>
        </p:txBody>
      </p:sp>
      <p:sp>
        <p:nvSpPr>
          <p:cNvPr id="13" name="Rectangle 12"/>
          <p:cNvSpPr/>
          <p:nvPr/>
        </p:nvSpPr>
        <p:spPr>
          <a:xfrm>
            <a:off x="457200" y="4160520"/>
            <a:ext cx="11338560" cy="1828800"/>
          </a:xfrm>
          <a:prstGeom prst="rect">
            <a:avLst/>
          </a:prstGeom>
          <a:solidFill>
            <a:srgbClr val="1E293B"/>
          </a:solidFill>
          <a:ln w="1905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4370832"/>
            <a:ext cx="10972800" cy="457200"/>
          </a:xfrm>
          <a:prstGeom prst="rect">
            <a:avLst/>
          </a:prstGeom>
          <a:noFill/>
        </p:spPr>
        <p:txBody>
          <a:bodyPr wrap="square" lIns="0" rIns="0" tIns="0" bIns="0" anchor="t">
            <a:spAutoFit/>
          </a:bodyPr>
          <a:lstStyle/>
          <a:p>
            <a:pPr algn="l"/>
            <a:r>
              <a:rPr sz="1200" b="1">
                <a:solidFill>
                  <a:srgbClr val="38BDF8"/>
                </a:solidFill>
                <a:latin typeface="Calibri"/>
              </a:rPr>
              <a:t>Why this matters in money</a:t>
            </a:r>
          </a:p>
        </p:txBody>
      </p:sp>
      <p:sp>
        <p:nvSpPr>
          <p:cNvPr id="15" name="TextBox 14"/>
          <p:cNvSpPr txBox="1"/>
          <p:nvPr/>
        </p:nvSpPr>
        <p:spPr>
          <a:xfrm>
            <a:off x="731520" y="4690872"/>
            <a:ext cx="10972800" cy="1371600"/>
          </a:xfrm>
          <a:prstGeom prst="rect">
            <a:avLst/>
          </a:prstGeom>
          <a:noFill/>
        </p:spPr>
        <p:txBody>
          <a:bodyPr wrap="square" lIns="0" rIns="0" tIns="0" bIns="0" anchor="t">
            <a:spAutoFit/>
          </a:bodyPr>
          <a:lstStyle/>
          <a:p>
            <a:pPr algn="l"/>
            <a:r>
              <a:rPr sz="1400" b="0">
                <a:solidFill>
                  <a:srgbClr val="E2E8F0"/>
                </a:solidFill>
                <a:latin typeface="Calibri"/>
              </a:rPr>
              <a:t>30 basis points on a EUR 50 million facility is EUR 750,000 over a 5-year tenor. That's a senior hire. That's a software stack. That's the dividend your CEO didn't get to announce. And you negotiated it away in a 45-minute call because you didn't have the math.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ounded Rectangle 1"/>
          <p:cNvSpPr/>
          <p:nvPr/>
        </p:nvSpPr>
        <p:spPr>
          <a:xfrm>
            <a:off x="457200" y="365760"/>
            <a:ext cx="1645920" cy="292608"/>
          </a:xfrm>
          <a:prstGeom prst="roundRect">
            <a:avLst>
              <a:gd name="adj" fmla="val 50000"/>
            </a:avLst>
          </a:prstGeom>
          <a:solidFill>
            <a:srgbClr val="1E293B"/>
          </a:solidFill>
          <a:ln w="9525">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38BDF8"/>
                </a:solidFill>
                <a:latin typeface="Calibri"/>
              </a:rPr>
              <a:t>THE TOOL</a:t>
            </a:r>
          </a:p>
        </p:txBody>
      </p:sp>
      <p:sp>
        <p:nvSpPr>
          <p:cNvPr id="3" name="TextBox 2"/>
          <p:cNvSpPr txBox="1"/>
          <p:nvPr/>
        </p:nvSpPr>
        <p:spPr>
          <a:xfrm>
            <a:off x="457200" y="777240"/>
            <a:ext cx="10972800" cy="640080"/>
          </a:xfrm>
          <a:prstGeom prst="rect">
            <a:avLst/>
          </a:prstGeom>
          <a:noFill/>
        </p:spPr>
        <p:txBody>
          <a:bodyPr wrap="square" lIns="0" rIns="0" tIns="0" bIns="0" anchor="t">
            <a:spAutoFit/>
          </a:bodyPr>
          <a:lstStyle/>
          <a:p>
            <a:pPr algn="l"/>
            <a:r>
              <a:rPr sz="3000" b="1">
                <a:solidFill>
                  <a:srgbClr val="FFFFFF"/>
                </a:solidFill>
                <a:latin typeface="Calibri"/>
              </a:rPr>
              <a:t>What OpenRAROC is.</a:t>
            </a:r>
          </a:p>
        </p:txBody>
      </p:sp>
      <p:sp>
        <p:nvSpPr>
          <p:cNvPr id="4" name="TextBox 3"/>
          <p:cNvSpPr txBox="1"/>
          <p:nvPr/>
        </p:nvSpPr>
        <p:spPr>
          <a:xfrm>
            <a:off x="457200" y="1371600"/>
            <a:ext cx="10972800" cy="365760"/>
          </a:xfrm>
          <a:prstGeom prst="rect">
            <a:avLst/>
          </a:prstGeom>
          <a:noFill/>
        </p:spPr>
        <p:txBody>
          <a:bodyPr wrap="square" lIns="0" rIns="0" tIns="0" bIns="0" anchor="t">
            <a:spAutoFit/>
          </a:bodyPr>
          <a:lstStyle/>
          <a:p>
            <a:pPr algn="l"/>
            <a:r>
              <a:rPr sz="1400" b="0">
                <a:solidFill>
                  <a:srgbClr val="94A3B8"/>
                </a:solidFill>
                <a:latin typeface="Calibri"/>
              </a:rPr>
              <a:t>Basel III IRB calculator + 59 bank profiles + min-spread solver.</a:t>
            </a:r>
          </a:p>
        </p:txBody>
      </p:sp>
      <p:sp>
        <p:nvSpPr>
          <p:cNvPr id="5" name="TextBox 4"/>
          <p:cNvSpPr txBox="1"/>
          <p:nvPr/>
        </p:nvSpPr>
        <p:spPr>
          <a:xfrm>
            <a:off x="457200" y="6400800"/>
            <a:ext cx="6400800" cy="274320"/>
          </a:xfrm>
          <a:prstGeom prst="rect">
            <a:avLst/>
          </a:prstGeom>
          <a:noFill/>
        </p:spPr>
        <p:txBody>
          <a:bodyPr wrap="square" lIns="0" rIns="0" tIns="0" bIns="0" anchor="t">
            <a:spAutoFit/>
          </a:bodyPr>
          <a:lstStyle/>
          <a:p>
            <a:pPr algn="l"/>
            <a:r>
              <a:rPr sz="1000" b="0">
                <a:solidFill>
                  <a:srgbClr val="64748B"/>
                </a:solidFill>
                <a:latin typeface="Calibri"/>
              </a:rPr>
              <a:t>OpenRAROC  •  See your credit through your banker's eyes</a:t>
            </a:r>
          </a:p>
        </p:txBody>
      </p:sp>
      <p:sp>
        <p:nvSpPr>
          <p:cNvPr id="6" name="TextBox 5"/>
          <p:cNvSpPr txBox="1"/>
          <p:nvPr/>
        </p:nvSpPr>
        <p:spPr>
          <a:xfrm>
            <a:off x="10058400" y="6400800"/>
            <a:ext cx="1828800" cy="274320"/>
          </a:xfrm>
          <a:prstGeom prst="rect">
            <a:avLst/>
          </a:prstGeom>
          <a:noFill/>
        </p:spPr>
        <p:txBody>
          <a:bodyPr wrap="square" lIns="0" rIns="0" tIns="0" bIns="0" anchor="t">
            <a:spAutoFit/>
          </a:bodyPr>
          <a:lstStyle/>
          <a:p>
            <a:pPr algn="r"/>
            <a:r>
              <a:rPr sz="1000" b="0">
                <a:solidFill>
                  <a:srgbClr val="64748B"/>
                </a:solidFill>
                <a:latin typeface="Calibri"/>
              </a:rPr>
              <a:t>3 / 12</a:t>
            </a:r>
          </a:p>
        </p:txBody>
      </p:sp>
      <p:sp>
        <p:nvSpPr>
          <p:cNvPr id="7" name="Rectangle 6"/>
          <p:cNvSpPr/>
          <p:nvPr/>
        </p:nvSpPr>
        <p:spPr>
          <a:xfrm>
            <a:off x="457200" y="1920240"/>
            <a:ext cx="2697480" cy="1280160"/>
          </a:xfrm>
          <a:prstGeom prst="rect">
            <a:avLst/>
          </a:prstGeom>
          <a:solidFill>
            <a:srgbClr val="1E293B"/>
          </a:solidFill>
          <a:ln w="9525">
            <a:solidFill>
              <a:srgbClr val="4755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057400"/>
            <a:ext cx="2331720" cy="228600"/>
          </a:xfrm>
          <a:prstGeom prst="rect">
            <a:avLst/>
          </a:prstGeom>
          <a:noFill/>
        </p:spPr>
        <p:txBody>
          <a:bodyPr wrap="square" lIns="0" rIns="0" tIns="0" bIns="0" anchor="t">
            <a:spAutoFit/>
          </a:bodyPr>
          <a:lstStyle/>
          <a:p>
            <a:pPr algn="l"/>
            <a:r>
              <a:rPr sz="900" b="1">
                <a:solidFill>
                  <a:srgbClr val="64748B"/>
                </a:solidFill>
                <a:latin typeface="Calibri"/>
              </a:rPr>
              <a:t>BANK PROFILES</a:t>
            </a:r>
          </a:p>
        </p:txBody>
      </p:sp>
      <p:sp>
        <p:nvSpPr>
          <p:cNvPr id="9" name="TextBox 8"/>
          <p:cNvSpPr txBox="1"/>
          <p:nvPr/>
        </p:nvSpPr>
        <p:spPr>
          <a:xfrm>
            <a:off x="640080" y="2304288"/>
            <a:ext cx="2331720" cy="502920"/>
          </a:xfrm>
          <a:prstGeom prst="rect">
            <a:avLst/>
          </a:prstGeom>
          <a:noFill/>
        </p:spPr>
        <p:txBody>
          <a:bodyPr wrap="square" lIns="0" rIns="0" tIns="0" bIns="0" anchor="t">
            <a:spAutoFit/>
          </a:bodyPr>
          <a:lstStyle/>
          <a:p>
            <a:pPr algn="l"/>
            <a:r>
              <a:rPr sz="2200" b="1">
                <a:solidFill>
                  <a:srgbClr val="38BDF8"/>
                </a:solidFill>
                <a:latin typeface="Calibri"/>
              </a:rPr>
              <a:t>59</a:t>
            </a:r>
          </a:p>
        </p:txBody>
      </p:sp>
      <p:sp>
        <p:nvSpPr>
          <p:cNvPr id="10" name="TextBox 9"/>
          <p:cNvSpPr txBox="1"/>
          <p:nvPr/>
        </p:nvSpPr>
        <p:spPr>
          <a:xfrm>
            <a:off x="640080" y="2880360"/>
            <a:ext cx="2331720" cy="228600"/>
          </a:xfrm>
          <a:prstGeom prst="rect">
            <a:avLst/>
          </a:prstGeom>
          <a:noFill/>
        </p:spPr>
        <p:txBody>
          <a:bodyPr wrap="square" lIns="0" rIns="0" tIns="0" bIns="0" anchor="t">
            <a:spAutoFit/>
          </a:bodyPr>
          <a:lstStyle/>
          <a:p>
            <a:pPr algn="l"/>
            <a:r>
              <a:rPr sz="900" b="0">
                <a:solidFill>
                  <a:srgbClr val="94A3B8"/>
                </a:solidFill>
                <a:latin typeface="Calibri"/>
              </a:rPr>
              <a:t>from public Pillar 3 disclosures</a:t>
            </a:r>
          </a:p>
        </p:txBody>
      </p:sp>
      <p:sp>
        <p:nvSpPr>
          <p:cNvPr id="11" name="Rectangle 10"/>
          <p:cNvSpPr/>
          <p:nvPr/>
        </p:nvSpPr>
        <p:spPr>
          <a:xfrm>
            <a:off x="3291840" y="1920240"/>
            <a:ext cx="2697480" cy="1280160"/>
          </a:xfrm>
          <a:prstGeom prst="rect">
            <a:avLst/>
          </a:prstGeom>
          <a:solidFill>
            <a:srgbClr val="1E293B"/>
          </a:solidFill>
          <a:ln w="9525">
            <a:solidFill>
              <a:srgbClr val="4755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0" y="2057400"/>
            <a:ext cx="2331720" cy="228600"/>
          </a:xfrm>
          <a:prstGeom prst="rect">
            <a:avLst/>
          </a:prstGeom>
          <a:noFill/>
        </p:spPr>
        <p:txBody>
          <a:bodyPr wrap="square" lIns="0" rIns="0" tIns="0" bIns="0" anchor="t">
            <a:spAutoFit/>
          </a:bodyPr>
          <a:lstStyle/>
          <a:p>
            <a:pPr algn="l"/>
            <a:r>
              <a:rPr sz="900" b="1">
                <a:solidFill>
                  <a:srgbClr val="64748B"/>
                </a:solidFill>
                <a:latin typeface="Calibri"/>
              </a:rPr>
              <a:t>COUNTRIES</a:t>
            </a:r>
          </a:p>
        </p:txBody>
      </p:sp>
      <p:sp>
        <p:nvSpPr>
          <p:cNvPr id="13" name="TextBox 12"/>
          <p:cNvSpPr txBox="1"/>
          <p:nvPr/>
        </p:nvSpPr>
        <p:spPr>
          <a:xfrm>
            <a:off x="3474720" y="2304288"/>
            <a:ext cx="2331720" cy="502920"/>
          </a:xfrm>
          <a:prstGeom prst="rect">
            <a:avLst/>
          </a:prstGeom>
          <a:noFill/>
        </p:spPr>
        <p:txBody>
          <a:bodyPr wrap="square" lIns="0" rIns="0" tIns="0" bIns="0" anchor="t">
            <a:spAutoFit/>
          </a:bodyPr>
          <a:lstStyle/>
          <a:p>
            <a:pPr algn="l"/>
            <a:r>
              <a:rPr sz="2200" b="1">
                <a:solidFill>
                  <a:srgbClr val="38BDF8"/>
                </a:solidFill>
                <a:latin typeface="Calibri"/>
              </a:rPr>
              <a:t>26</a:t>
            </a:r>
          </a:p>
        </p:txBody>
      </p:sp>
      <p:sp>
        <p:nvSpPr>
          <p:cNvPr id="14" name="TextBox 13"/>
          <p:cNvSpPr txBox="1"/>
          <p:nvPr/>
        </p:nvSpPr>
        <p:spPr>
          <a:xfrm>
            <a:off x="3474720" y="2880360"/>
            <a:ext cx="2331720" cy="228600"/>
          </a:xfrm>
          <a:prstGeom prst="rect">
            <a:avLst/>
          </a:prstGeom>
          <a:noFill/>
        </p:spPr>
        <p:txBody>
          <a:bodyPr wrap="square" lIns="0" rIns="0" tIns="0" bIns="0" anchor="t">
            <a:spAutoFit/>
          </a:bodyPr>
          <a:lstStyle/>
          <a:p>
            <a:pPr algn="l"/>
            <a:r>
              <a:rPr sz="900" b="0">
                <a:solidFill>
                  <a:srgbClr val="94A3B8"/>
                </a:solidFill>
                <a:latin typeface="Calibri"/>
              </a:rPr>
              <a:t>EU + UK + US + APAC + LatAm + Gulf</a:t>
            </a:r>
          </a:p>
        </p:txBody>
      </p:sp>
      <p:sp>
        <p:nvSpPr>
          <p:cNvPr id="15" name="Rectangle 14"/>
          <p:cNvSpPr/>
          <p:nvPr/>
        </p:nvSpPr>
        <p:spPr>
          <a:xfrm>
            <a:off x="6126480" y="1920240"/>
            <a:ext cx="2697480" cy="1280160"/>
          </a:xfrm>
          <a:prstGeom prst="rect">
            <a:avLst/>
          </a:prstGeom>
          <a:solidFill>
            <a:srgbClr val="1E293B"/>
          </a:solidFill>
          <a:ln w="9525">
            <a:solidFill>
              <a:srgbClr val="4755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09360" y="2057400"/>
            <a:ext cx="2331720" cy="228600"/>
          </a:xfrm>
          <a:prstGeom prst="rect">
            <a:avLst/>
          </a:prstGeom>
          <a:noFill/>
        </p:spPr>
        <p:txBody>
          <a:bodyPr wrap="square" lIns="0" rIns="0" tIns="0" bIns="0" anchor="t">
            <a:spAutoFit/>
          </a:bodyPr>
          <a:lstStyle/>
          <a:p>
            <a:pPr algn="l"/>
            <a:r>
              <a:rPr sz="900" b="1">
                <a:solidFill>
                  <a:srgbClr val="64748B"/>
                </a:solidFill>
                <a:latin typeface="Calibri"/>
              </a:rPr>
              <a:t>PRODUCTS</a:t>
            </a:r>
          </a:p>
        </p:txBody>
      </p:sp>
      <p:sp>
        <p:nvSpPr>
          <p:cNvPr id="17" name="TextBox 16"/>
          <p:cNvSpPr txBox="1"/>
          <p:nvPr/>
        </p:nvSpPr>
        <p:spPr>
          <a:xfrm>
            <a:off x="6309360" y="2304288"/>
            <a:ext cx="2331720" cy="502920"/>
          </a:xfrm>
          <a:prstGeom prst="rect">
            <a:avLst/>
          </a:prstGeom>
          <a:noFill/>
        </p:spPr>
        <p:txBody>
          <a:bodyPr wrap="square" lIns="0" rIns="0" tIns="0" bIns="0" anchor="t">
            <a:spAutoFit/>
          </a:bodyPr>
          <a:lstStyle/>
          <a:p>
            <a:pPr algn="l"/>
            <a:r>
              <a:rPr sz="2200" b="1">
                <a:solidFill>
                  <a:srgbClr val="38BDF8"/>
                </a:solidFill>
                <a:latin typeface="Calibri"/>
              </a:rPr>
              <a:t>7</a:t>
            </a:r>
          </a:p>
        </p:txBody>
      </p:sp>
      <p:sp>
        <p:nvSpPr>
          <p:cNvPr id="18" name="TextBox 17"/>
          <p:cNvSpPr txBox="1"/>
          <p:nvPr/>
        </p:nvSpPr>
        <p:spPr>
          <a:xfrm>
            <a:off x="6309360" y="2880360"/>
            <a:ext cx="2331720" cy="228600"/>
          </a:xfrm>
          <a:prstGeom prst="rect">
            <a:avLst/>
          </a:prstGeom>
          <a:noFill/>
        </p:spPr>
        <p:txBody>
          <a:bodyPr wrap="square" lIns="0" rIns="0" tIns="0" bIns="0" anchor="t">
            <a:spAutoFit/>
          </a:bodyPr>
          <a:lstStyle/>
          <a:p>
            <a:pPr algn="l"/>
            <a:r>
              <a:rPr sz="900" b="0">
                <a:solidFill>
                  <a:srgbClr val="94A3B8"/>
                </a:solidFill>
                <a:latin typeface="Calibri"/>
              </a:rPr>
              <a:t>Term, RCF, LC, Bond, IRS, FX, Project finance</a:t>
            </a:r>
          </a:p>
        </p:txBody>
      </p:sp>
      <p:sp>
        <p:nvSpPr>
          <p:cNvPr id="19" name="Rectangle 18"/>
          <p:cNvSpPr/>
          <p:nvPr/>
        </p:nvSpPr>
        <p:spPr>
          <a:xfrm>
            <a:off x="8961120" y="1920240"/>
            <a:ext cx="2788920" cy="1280160"/>
          </a:xfrm>
          <a:prstGeom prst="rect">
            <a:avLst/>
          </a:prstGeom>
          <a:solidFill>
            <a:srgbClr val="1E293B"/>
          </a:solidFill>
          <a:ln w="9525">
            <a:solidFill>
              <a:srgbClr val="4755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0" y="2057400"/>
            <a:ext cx="2423160" cy="228600"/>
          </a:xfrm>
          <a:prstGeom prst="rect">
            <a:avLst/>
          </a:prstGeom>
          <a:noFill/>
        </p:spPr>
        <p:txBody>
          <a:bodyPr wrap="square" lIns="0" rIns="0" tIns="0" bIns="0" anchor="t">
            <a:spAutoFit/>
          </a:bodyPr>
          <a:lstStyle/>
          <a:p>
            <a:pPr algn="l"/>
            <a:r>
              <a:rPr sz="900" b="1">
                <a:solidFill>
                  <a:srgbClr val="64748B"/>
                </a:solidFill>
                <a:latin typeface="Calibri"/>
              </a:rPr>
              <a:t>PRO TIER</a:t>
            </a:r>
          </a:p>
        </p:txBody>
      </p:sp>
      <p:sp>
        <p:nvSpPr>
          <p:cNvPr id="21" name="TextBox 20"/>
          <p:cNvSpPr txBox="1"/>
          <p:nvPr/>
        </p:nvSpPr>
        <p:spPr>
          <a:xfrm>
            <a:off x="9144000" y="2304288"/>
            <a:ext cx="2423160" cy="502920"/>
          </a:xfrm>
          <a:prstGeom prst="rect">
            <a:avLst/>
          </a:prstGeom>
          <a:noFill/>
        </p:spPr>
        <p:txBody>
          <a:bodyPr wrap="square" lIns="0" rIns="0" tIns="0" bIns="0" anchor="t">
            <a:spAutoFit/>
          </a:bodyPr>
          <a:lstStyle/>
          <a:p>
            <a:pPr algn="l"/>
            <a:r>
              <a:rPr sz="2200" b="1">
                <a:solidFill>
                  <a:srgbClr val="38BDF8"/>
                </a:solidFill>
                <a:latin typeface="Calibri"/>
              </a:rPr>
              <a:t>EUR 49 / yr</a:t>
            </a:r>
          </a:p>
        </p:txBody>
      </p:sp>
      <p:sp>
        <p:nvSpPr>
          <p:cNvPr id="22" name="TextBox 21"/>
          <p:cNvSpPr txBox="1"/>
          <p:nvPr/>
        </p:nvSpPr>
        <p:spPr>
          <a:xfrm>
            <a:off x="9144000" y="2880360"/>
            <a:ext cx="2423160" cy="228600"/>
          </a:xfrm>
          <a:prstGeom prst="rect">
            <a:avLst/>
          </a:prstGeom>
          <a:noFill/>
        </p:spPr>
        <p:txBody>
          <a:bodyPr wrap="square" lIns="0" rIns="0" tIns="0" bIns="0" anchor="t">
            <a:spAutoFit/>
          </a:bodyPr>
          <a:lstStyle/>
          <a:p>
            <a:pPr algn="l"/>
            <a:r>
              <a:rPr sz="900" b="0">
                <a:solidFill>
                  <a:srgbClr val="94A3B8"/>
                </a:solidFill>
                <a:latin typeface="Calibri"/>
              </a:rPr>
              <a:t>4 banks free, 55 unlocked at Pro</a:t>
            </a:r>
          </a:p>
        </p:txBody>
      </p:sp>
      <p:sp>
        <p:nvSpPr>
          <p:cNvPr id="23" name="Rectangle 22"/>
          <p:cNvSpPr/>
          <p:nvPr/>
        </p:nvSpPr>
        <p:spPr>
          <a:xfrm>
            <a:off x="457200" y="3383280"/>
            <a:ext cx="5577840" cy="2743200"/>
          </a:xfrm>
          <a:prstGeom prst="rect">
            <a:avLst/>
          </a:prstGeom>
          <a:solidFill>
            <a:srgbClr val="1E293B"/>
          </a:solidFill>
          <a:ln w="9525">
            <a:solidFill>
              <a:srgbClr val="4755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 y="3566160"/>
            <a:ext cx="5120640" cy="365760"/>
          </a:xfrm>
          <a:prstGeom prst="rect">
            <a:avLst/>
          </a:prstGeom>
          <a:noFill/>
        </p:spPr>
        <p:txBody>
          <a:bodyPr wrap="square" lIns="0" rIns="0" tIns="0" bIns="0" anchor="t">
            <a:spAutoFit/>
          </a:bodyPr>
          <a:lstStyle/>
          <a:p>
            <a:pPr algn="l"/>
            <a:r>
              <a:rPr sz="1400" b="1">
                <a:solidFill>
                  <a:srgbClr val="38BDF8"/>
                </a:solidFill>
                <a:latin typeface="Calibri"/>
              </a:rPr>
              <a:t>For your company</a:t>
            </a:r>
          </a:p>
        </p:txBody>
      </p:sp>
      <p:sp>
        <p:nvSpPr>
          <p:cNvPr id="25" name="TextBox 24"/>
          <p:cNvSpPr txBox="1"/>
          <p:nvPr/>
        </p:nvSpPr>
        <p:spPr>
          <a:xfrm>
            <a:off x="685800" y="4023360"/>
            <a:ext cx="5120640" cy="1920240"/>
          </a:xfrm>
          <a:prstGeom prst="rect">
            <a:avLst/>
          </a:prstGeom>
          <a:noFill/>
        </p:spPr>
        <p:txBody>
          <a:bodyPr wrap="square" lIns="0" rIns="0" tIns="0" bIns="0">
            <a:spAutoFit/>
          </a:bodyPr>
          <a:lstStyle/>
          <a:p>
            <a:pPr>
              <a:lnSpc>
                <a:spcPct val="125000"/>
              </a:lnSpc>
              <a:spcAft>
                <a:spcPts val="400"/>
              </a:spcAft>
            </a:pPr>
            <a:r>
              <a:rPr sz="1200">
                <a:solidFill>
                  <a:srgbClr val="E2E8F0"/>
                </a:solidFill>
                <a:latin typeface="Calibri"/>
              </a:rPr>
              <a:t>•  Run any facility through the calculator in under 60 seconds.</a:t>
            </a:r>
          </a:p>
          <a:p>
            <a:pPr>
              <a:lnSpc>
                <a:spcPct val="125000"/>
              </a:lnSpc>
              <a:spcAft>
                <a:spcPts val="400"/>
              </a:spcAft>
            </a:pPr>
            <a:r>
              <a:rPr sz="1200">
                <a:solidFill>
                  <a:srgbClr val="E2E8F0"/>
                </a:solidFill>
                <a:latin typeface="Calibri"/>
              </a:rPr>
              <a:t>•  Compare your current bank against 58 alternatives.</a:t>
            </a:r>
          </a:p>
          <a:p>
            <a:pPr>
              <a:lnSpc>
                <a:spcPct val="125000"/>
              </a:lnSpc>
              <a:spcAft>
                <a:spcPts val="400"/>
              </a:spcAft>
            </a:pPr>
            <a:r>
              <a:rPr sz="1200">
                <a:solidFill>
                  <a:srgbClr val="E2E8F0"/>
                </a:solidFill>
                <a:latin typeface="Calibri"/>
              </a:rPr>
              <a:t>•  Reverse-solve the minimum spread your bank can accept.</a:t>
            </a:r>
          </a:p>
          <a:p>
            <a:pPr>
              <a:lnSpc>
                <a:spcPct val="125000"/>
              </a:lnSpc>
              <a:spcAft>
                <a:spcPts val="400"/>
              </a:spcAft>
            </a:pPr>
            <a:r>
              <a:rPr sz="1200">
                <a:solidFill>
                  <a:srgbClr val="E2E8F0"/>
                </a:solidFill>
                <a:latin typeface="Calibri"/>
              </a:rPr>
              <a:t>•  Generate a CFO-ready PDF for the credit committee.</a:t>
            </a:r>
          </a:p>
          <a:p>
            <a:pPr>
              <a:lnSpc>
                <a:spcPct val="125000"/>
              </a:lnSpc>
              <a:spcAft>
                <a:spcPts val="400"/>
              </a:spcAft>
            </a:pPr>
            <a:r>
              <a:rPr sz="1200">
                <a:solidFill>
                  <a:srgbClr val="E2E8F0"/>
                </a:solidFill>
                <a:latin typeface="Calibri"/>
              </a:rPr>
              <a:t>•  Set up a portfolio across all your facilities and rebalance.</a:t>
            </a:r>
          </a:p>
        </p:txBody>
      </p:sp>
      <p:sp>
        <p:nvSpPr>
          <p:cNvPr id="26" name="Rectangle 25"/>
          <p:cNvSpPr/>
          <p:nvPr/>
        </p:nvSpPr>
        <p:spPr>
          <a:xfrm>
            <a:off x="6263640" y="3383280"/>
            <a:ext cx="5486400" cy="2743200"/>
          </a:xfrm>
          <a:prstGeom prst="rect">
            <a:avLst/>
          </a:prstGeom>
          <a:solidFill>
            <a:srgbClr val="1E293B"/>
          </a:solidFill>
          <a:ln w="9525">
            <a:solidFill>
              <a:srgbClr val="4755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92240" y="3566160"/>
            <a:ext cx="5029200" cy="365760"/>
          </a:xfrm>
          <a:prstGeom prst="rect">
            <a:avLst/>
          </a:prstGeom>
          <a:noFill/>
        </p:spPr>
        <p:txBody>
          <a:bodyPr wrap="square" lIns="0" rIns="0" tIns="0" bIns="0" anchor="t">
            <a:spAutoFit/>
          </a:bodyPr>
          <a:lstStyle/>
          <a:p>
            <a:pPr algn="l"/>
            <a:r>
              <a:rPr sz="1400" b="1">
                <a:solidFill>
                  <a:srgbClr val="22C55E"/>
                </a:solidFill>
                <a:latin typeface="Calibri"/>
              </a:rPr>
              <a:t>For your firm  (advisors, consultancies, fractional CFOs)</a:t>
            </a:r>
          </a:p>
        </p:txBody>
      </p:sp>
      <p:sp>
        <p:nvSpPr>
          <p:cNvPr id="28" name="TextBox 27"/>
          <p:cNvSpPr txBox="1"/>
          <p:nvPr/>
        </p:nvSpPr>
        <p:spPr>
          <a:xfrm>
            <a:off x="6492240" y="4023360"/>
            <a:ext cx="5029200" cy="1920240"/>
          </a:xfrm>
          <a:prstGeom prst="rect">
            <a:avLst/>
          </a:prstGeom>
          <a:noFill/>
        </p:spPr>
        <p:txBody>
          <a:bodyPr wrap="square" lIns="0" rIns="0" tIns="0" bIns="0">
            <a:spAutoFit/>
          </a:bodyPr>
          <a:lstStyle/>
          <a:p>
            <a:pPr>
              <a:lnSpc>
                <a:spcPct val="125000"/>
              </a:lnSpc>
              <a:spcAft>
                <a:spcPts val="400"/>
              </a:spcAft>
            </a:pPr>
            <a:r>
              <a:rPr sz="1200">
                <a:solidFill>
                  <a:srgbClr val="E2E8F0"/>
                </a:solidFill>
                <a:latin typeface="Calibri"/>
              </a:rPr>
              <a:t>•  Embed the engine in your client deliverables.</a:t>
            </a:r>
          </a:p>
          <a:p>
            <a:pPr>
              <a:lnSpc>
                <a:spcPct val="125000"/>
              </a:lnSpc>
              <a:spcAft>
                <a:spcPts val="400"/>
              </a:spcAft>
            </a:pPr>
            <a:r>
              <a:rPr sz="1200">
                <a:solidFill>
                  <a:srgbClr val="E2E8F0"/>
                </a:solidFill>
                <a:latin typeface="Calibri"/>
              </a:rPr>
              <a:t>•  Three flavours: referral (recurring), white-label, full OEM.</a:t>
            </a:r>
          </a:p>
          <a:p>
            <a:pPr>
              <a:lnSpc>
                <a:spcPct val="125000"/>
              </a:lnSpc>
              <a:spcAft>
                <a:spcPts val="400"/>
              </a:spcAft>
            </a:pPr>
            <a:r>
              <a:rPr sz="1200">
                <a:solidFill>
                  <a:srgbClr val="E2E8F0"/>
                </a:solidFill>
                <a:latin typeface="Calibri"/>
              </a:rPr>
              <a:t>•  API + MCP — wire RAROC into your treasury or advisory tool.</a:t>
            </a:r>
          </a:p>
          <a:p>
            <a:pPr>
              <a:lnSpc>
                <a:spcPct val="125000"/>
              </a:lnSpc>
              <a:spcAft>
                <a:spcPts val="400"/>
              </a:spcAft>
            </a:pPr>
            <a:r>
              <a:rPr sz="1200">
                <a:solidFill>
                  <a:srgbClr val="E2E8F0"/>
                </a:solidFill>
                <a:latin typeface="Calibri"/>
              </a:rPr>
              <a:t>•  Annual data refresh; no maintenance burden on your side.</a:t>
            </a:r>
          </a:p>
          <a:p>
            <a:pPr>
              <a:lnSpc>
                <a:spcPct val="125000"/>
              </a:lnSpc>
              <a:spcAft>
                <a:spcPts val="400"/>
              </a:spcAft>
            </a:pPr>
            <a:r>
              <a:rPr sz="1200">
                <a:solidFill>
                  <a:srgbClr val="E2E8F0"/>
                </a:solidFill>
                <a:latin typeface="Calibri"/>
              </a:rPr>
              <a:t>•  Defensible, auditable, regulator-aligned methodology.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ounded Rectangle 1"/>
          <p:cNvSpPr/>
          <p:nvPr/>
        </p:nvSpPr>
        <p:spPr>
          <a:xfrm>
            <a:off x="457200" y="365760"/>
            <a:ext cx="1645920" cy="292608"/>
          </a:xfrm>
          <a:prstGeom prst="roundRect">
            <a:avLst>
              <a:gd name="adj" fmla="val 50000"/>
            </a:avLst>
          </a:prstGeom>
          <a:solidFill>
            <a:srgbClr val="1E293B"/>
          </a:solidFill>
          <a:ln w="9525">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38BDF8"/>
                </a:solidFill>
                <a:latin typeface="Calibri"/>
              </a:rPr>
              <a:t>THE TOOL</a:t>
            </a:r>
          </a:p>
        </p:txBody>
      </p:sp>
      <p:sp>
        <p:nvSpPr>
          <p:cNvPr id="3" name="TextBox 2"/>
          <p:cNvSpPr txBox="1"/>
          <p:nvPr/>
        </p:nvSpPr>
        <p:spPr>
          <a:xfrm>
            <a:off x="457200" y="777240"/>
            <a:ext cx="10972800" cy="640080"/>
          </a:xfrm>
          <a:prstGeom prst="rect">
            <a:avLst/>
          </a:prstGeom>
          <a:noFill/>
        </p:spPr>
        <p:txBody>
          <a:bodyPr wrap="square" lIns="0" rIns="0" tIns="0" bIns="0" anchor="t">
            <a:spAutoFit/>
          </a:bodyPr>
          <a:lstStyle/>
          <a:p>
            <a:pPr algn="l"/>
            <a:r>
              <a:rPr sz="3000" b="1">
                <a:solidFill>
                  <a:srgbClr val="FFFFFF"/>
                </a:solidFill>
                <a:latin typeface="Calibri"/>
              </a:rPr>
              <a:t>Why your bank cannot dispute the math.</a:t>
            </a:r>
          </a:p>
        </p:txBody>
      </p:sp>
      <p:sp>
        <p:nvSpPr>
          <p:cNvPr id="4" name="TextBox 3"/>
          <p:cNvSpPr txBox="1"/>
          <p:nvPr/>
        </p:nvSpPr>
        <p:spPr>
          <a:xfrm>
            <a:off x="457200" y="1371600"/>
            <a:ext cx="10972800" cy="365760"/>
          </a:xfrm>
          <a:prstGeom prst="rect">
            <a:avLst/>
          </a:prstGeom>
          <a:noFill/>
        </p:spPr>
        <p:txBody>
          <a:bodyPr wrap="square" lIns="0" rIns="0" tIns="0" bIns="0" anchor="t">
            <a:spAutoFit/>
          </a:bodyPr>
          <a:lstStyle/>
          <a:p>
            <a:pPr algn="l"/>
            <a:r>
              <a:rPr sz="1400" b="0">
                <a:solidFill>
                  <a:srgbClr val="94A3B8"/>
                </a:solidFill>
                <a:latin typeface="Calibri"/>
              </a:rPr>
              <a:t>Three public sources. Zero estimates. Auditable end to end.</a:t>
            </a:r>
          </a:p>
        </p:txBody>
      </p:sp>
      <p:sp>
        <p:nvSpPr>
          <p:cNvPr id="5" name="TextBox 4"/>
          <p:cNvSpPr txBox="1"/>
          <p:nvPr/>
        </p:nvSpPr>
        <p:spPr>
          <a:xfrm>
            <a:off x="457200" y="6400800"/>
            <a:ext cx="6400800" cy="274320"/>
          </a:xfrm>
          <a:prstGeom prst="rect">
            <a:avLst/>
          </a:prstGeom>
          <a:noFill/>
        </p:spPr>
        <p:txBody>
          <a:bodyPr wrap="square" lIns="0" rIns="0" tIns="0" bIns="0" anchor="t">
            <a:spAutoFit/>
          </a:bodyPr>
          <a:lstStyle/>
          <a:p>
            <a:pPr algn="l"/>
            <a:r>
              <a:rPr sz="1000" b="0">
                <a:solidFill>
                  <a:srgbClr val="64748B"/>
                </a:solidFill>
                <a:latin typeface="Calibri"/>
              </a:rPr>
              <a:t>OpenRAROC  •  See your credit through your banker's eyes</a:t>
            </a:r>
          </a:p>
        </p:txBody>
      </p:sp>
      <p:sp>
        <p:nvSpPr>
          <p:cNvPr id="6" name="TextBox 5"/>
          <p:cNvSpPr txBox="1"/>
          <p:nvPr/>
        </p:nvSpPr>
        <p:spPr>
          <a:xfrm>
            <a:off x="10058400" y="6400800"/>
            <a:ext cx="1828800" cy="274320"/>
          </a:xfrm>
          <a:prstGeom prst="rect">
            <a:avLst/>
          </a:prstGeom>
          <a:noFill/>
        </p:spPr>
        <p:txBody>
          <a:bodyPr wrap="square" lIns="0" rIns="0" tIns="0" bIns="0" anchor="t">
            <a:spAutoFit/>
          </a:bodyPr>
          <a:lstStyle/>
          <a:p>
            <a:pPr algn="r"/>
            <a:r>
              <a:rPr sz="1000" b="0">
                <a:solidFill>
                  <a:srgbClr val="64748B"/>
                </a:solidFill>
                <a:latin typeface="Calibri"/>
              </a:rPr>
              <a:t>4 / 12</a:t>
            </a:r>
          </a:p>
        </p:txBody>
      </p:sp>
      <p:graphicFrame>
        <p:nvGraphicFramePr>
          <p:cNvPr id="7" name="Table 6"/>
          <p:cNvGraphicFramePr>
            <a:graphicFrameLocks noGrp="1"/>
          </p:cNvGraphicFramePr>
          <p:nvPr/>
        </p:nvGraphicFramePr>
        <p:xfrm>
          <a:off x="457200" y="1920240"/>
          <a:ext cx="11338560" cy="3291840"/>
        </p:xfrm>
        <a:graphic>
          <a:graphicData uri="http://schemas.openxmlformats.org/drawingml/2006/table">
            <a:tbl>
              <a:tblPr firstRow="1" bandRow="1">
                <a:tableStyleId>{5C22544A-7EE6-4342-B048-85BDC9FD1C3A}</a:tableStyleId>
              </a:tblPr>
              <a:tblGrid>
                <a:gridCol w="2377440"/>
                <a:gridCol w="4114800"/>
                <a:gridCol w="4846320"/>
              </a:tblGrid>
              <a:tr h="548640">
                <a:tc>
                  <a:txBody>
                    <a:bodyPr wrap="square"/>
                    <a:lstStyle/>
                    <a:p>
                      <a:pPr algn="l"/>
                      <a:r>
                        <a:rPr sz="1100" b="1">
                          <a:solidFill>
                            <a:srgbClr val="38BDF8"/>
                          </a:solidFill>
                          <a:latin typeface="Calibri"/>
                        </a:rPr>
                        <a:t>Input</a:t>
                      </a:r>
                    </a:p>
                  </a:txBody>
                  <a:tcPr marL="45000" marR="45000" marT="30000" marB="30000">
                    <a:solidFill>
                      <a:srgbClr val="334155"/>
                    </a:solidFill>
                  </a:tcPr>
                </a:tc>
                <a:tc>
                  <a:txBody>
                    <a:bodyPr wrap="square"/>
                    <a:lstStyle/>
                    <a:p>
                      <a:pPr algn="l"/>
                      <a:r>
                        <a:rPr sz="1100" b="1">
                          <a:solidFill>
                            <a:srgbClr val="38BDF8"/>
                          </a:solidFill>
                          <a:latin typeface="Calibri"/>
                        </a:rPr>
                        <a:t>Where it comes from</a:t>
                      </a:r>
                    </a:p>
                  </a:txBody>
                  <a:tcPr marL="45000" marR="45000" marT="30000" marB="30000">
                    <a:solidFill>
                      <a:srgbClr val="334155"/>
                    </a:solidFill>
                  </a:tcPr>
                </a:tc>
                <a:tc>
                  <a:txBody>
                    <a:bodyPr wrap="square"/>
                    <a:lstStyle/>
                    <a:p>
                      <a:pPr algn="l"/>
                      <a:r>
                        <a:rPr sz="1100" b="1">
                          <a:solidFill>
                            <a:srgbClr val="38BDF8"/>
                          </a:solidFill>
                          <a:latin typeface="Calibri"/>
                        </a:rPr>
                        <a:t>What it drives</a:t>
                      </a:r>
                    </a:p>
                  </a:txBody>
                  <a:tcPr marL="45000" marR="45000" marT="30000" marB="30000">
                    <a:solidFill>
                      <a:srgbClr val="334155"/>
                    </a:solidFill>
                  </a:tcPr>
                </a:tc>
              </a:tr>
              <a:tr h="548640">
                <a:tc>
                  <a:txBody>
                    <a:bodyPr wrap="square"/>
                    <a:lstStyle/>
                    <a:p>
                      <a:pPr algn="l"/>
                      <a:r>
                        <a:rPr sz="1200" b="0">
                          <a:solidFill>
                            <a:srgbClr val="E2E8F0"/>
                          </a:solidFill>
                          <a:latin typeface="Calibri"/>
                        </a:rPr>
                        <a:t>Probability of Default (PD)</a:t>
                      </a:r>
                    </a:p>
                  </a:txBody>
                  <a:tcPr marL="45000" marR="45000" marT="30000" marB="30000">
                    <a:solidFill>
                      <a:srgbClr val="1E293B"/>
                    </a:solidFill>
                  </a:tcPr>
                </a:tc>
                <a:tc>
                  <a:txBody>
                    <a:bodyPr wrap="square"/>
                    <a:lstStyle/>
                    <a:p>
                      <a:pPr algn="l"/>
                      <a:r>
                        <a:rPr sz="1200" b="0">
                          <a:solidFill>
                            <a:srgbClr val="E2E8F0"/>
                          </a:solidFill>
                          <a:latin typeface="Calibri"/>
                        </a:rPr>
                        <a:t>S&amp;P Global long-run corporate default rates</a:t>
                      </a:r>
                    </a:p>
                  </a:txBody>
                  <a:tcPr marL="45000" marR="45000" marT="30000" marB="30000">
                    <a:solidFill>
                      <a:srgbClr val="1E293B"/>
                    </a:solidFill>
                  </a:tcPr>
                </a:tc>
                <a:tc>
                  <a:txBody>
                    <a:bodyPr wrap="square"/>
                    <a:lstStyle/>
                    <a:p>
                      <a:pPr algn="l"/>
                      <a:r>
                        <a:rPr sz="1200" b="0">
                          <a:solidFill>
                            <a:srgbClr val="E2E8F0"/>
                          </a:solidFill>
                          <a:latin typeface="Calibri"/>
                        </a:rPr>
                        <a:t>Rating → PD lookup. Floored at 5 bp under Basel III.</a:t>
                      </a:r>
                    </a:p>
                  </a:txBody>
                  <a:tcPr marL="45000" marR="45000" marT="30000" marB="30000">
                    <a:solidFill>
                      <a:srgbClr val="1E293B"/>
                    </a:solidFill>
                  </a:tcPr>
                </a:tc>
              </a:tr>
              <a:tr h="548640">
                <a:tc>
                  <a:txBody>
                    <a:bodyPr wrap="square"/>
                    <a:lstStyle/>
                    <a:p>
                      <a:pPr algn="l"/>
                      <a:r>
                        <a:rPr sz="1200" b="0">
                          <a:solidFill>
                            <a:srgbClr val="E2E8F0"/>
                          </a:solidFill>
                          <a:latin typeface="Calibri"/>
                        </a:rPr>
                        <a:t>Risk weight K, b, R</a:t>
                      </a:r>
                    </a:p>
                  </a:txBody>
                  <a:tcPr marL="45000" marR="45000" marT="30000" marB="30000">
                    <a:solidFill>
                      <a:srgbClr val="1E293B"/>
                    </a:solidFill>
                  </a:tcPr>
                </a:tc>
                <a:tc>
                  <a:txBody>
                    <a:bodyPr wrap="square"/>
                    <a:lstStyle/>
                    <a:p>
                      <a:pPr algn="l"/>
                      <a:r>
                        <a:rPr sz="1200" b="0">
                          <a:solidFill>
                            <a:srgbClr val="E2E8F0"/>
                          </a:solidFill>
                          <a:latin typeface="Calibri"/>
                        </a:rPr>
                        <a:t>BIS CRE31 / CRE32 (the Basel framework itself)</a:t>
                      </a:r>
                    </a:p>
                  </a:txBody>
                  <a:tcPr marL="45000" marR="45000" marT="30000" marB="30000">
                    <a:solidFill>
                      <a:srgbClr val="1E293B"/>
                    </a:solidFill>
                  </a:tcPr>
                </a:tc>
                <a:tc>
                  <a:txBody>
                    <a:bodyPr wrap="square"/>
                    <a:lstStyle/>
                    <a:p>
                      <a:pPr algn="l"/>
                      <a:r>
                        <a:rPr sz="1200" b="0">
                          <a:solidFill>
                            <a:srgbClr val="E2E8F0"/>
                          </a:solidFill>
                          <a:latin typeface="Calibri"/>
                        </a:rPr>
                        <a:t>Capital requirement formula — same across all IRB banks.</a:t>
                      </a:r>
                    </a:p>
                  </a:txBody>
                  <a:tcPr marL="45000" marR="45000" marT="30000" marB="30000">
                    <a:solidFill>
                      <a:srgbClr val="1E293B"/>
                    </a:solidFill>
                  </a:tcPr>
                </a:tc>
              </a:tr>
              <a:tr h="548640">
                <a:tc>
                  <a:txBody>
                    <a:bodyPr wrap="square"/>
                    <a:lstStyle/>
                    <a:p>
                      <a:pPr algn="l"/>
                      <a:r>
                        <a:rPr sz="1200" b="1">
                          <a:solidFill>
                            <a:srgbClr val="38BDF8"/>
                          </a:solidFill>
                          <a:latin typeface="Calibri"/>
                        </a:rPr>
                        <a:t>LGD, CTI, tax, funding spread</a:t>
                      </a:r>
                    </a:p>
                  </a:txBody>
                  <a:tcPr marL="45000" marR="45000" marT="30000" marB="30000">
                    <a:solidFill>
                      <a:srgbClr val="334155"/>
                    </a:solidFill>
                  </a:tcPr>
                </a:tc>
                <a:tc>
                  <a:txBody>
                    <a:bodyPr wrap="square"/>
                    <a:lstStyle/>
                    <a:p>
                      <a:pPr algn="l"/>
                      <a:r>
                        <a:rPr sz="1200" b="1">
                          <a:solidFill>
                            <a:srgbClr val="38BDF8"/>
                          </a:solidFill>
                          <a:latin typeface="Calibri"/>
                        </a:rPr>
                        <a:t>Each bank's annual Pillar 3 + 10-K / URD</a:t>
                      </a:r>
                    </a:p>
                  </a:txBody>
                  <a:tcPr marL="45000" marR="45000" marT="30000" marB="30000">
                    <a:solidFill>
                      <a:srgbClr val="334155"/>
                    </a:solidFill>
                  </a:tcPr>
                </a:tc>
                <a:tc>
                  <a:txBody>
                    <a:bodyPr wrap="square"/>
                    <a:lstStyle/>
                    <a:p>
                      <a:pPr algn="l"/>
                      <a:r>
                        <a:rPr sz="1200" b="1">
                          <a:solidFill>
                            <a:srgbClr val="38BDF8"/>
                          </a:solidFill>
                          <a:latin typeface="Calibri"/>
                        </a:rPr>
                        <a:t>Bank-specific economics that move RAROC.</a:t>
                      </a:r>
                    </a:p>
                  </a:txBody>
                  <a:tcPr marL="45000" marR="45000" marT="30000" marB="30000">
                    <a:solidFill>
                      <a:srgbClr val="334155"/>
                    </a:solidFill>
                  </a:tcPr>
                </a:tc>
              </a:tr>
              <a:tr h="548640">
                <a:tc>
                  <a:txBody>
                    <a:bodyPr wrap="square"/>
                    <a:lstStyle/>
                    <a:p>
                      <a:pPr algn="l"/>
                      <a:r>
                        <a:rPr sz="1200" b="0">
                          <a:solidFill>
                            <a:srgbClr val="E2E8F0"/>
                          </a:solidFill>
                          <a:latin typeface="Calibri"/>
                        </a:rPr>
                        <a:t>Output floor (Basel IV)</a:t>
                      </a:r>
                    </a:p>
                  </a:txBody>
                  <a:tcPr marL="45000" marR="45000" marT="30000" marB="30000">
                    <a:solidFill>
                      <a:srgbClr val="1E293B"/>
                    </a:solidFill>
                  </a:tcPr>
                </a:tc>
                <a:tc>
                  <a:txBody>
                    <a:bodyPr wrap="square"/>
                    <a:lstStyle/>
                    <a:p>
                      <a:pPr algn="l"/>
                      <a:r>
                        <a:rPr sz="1200" b="0">
                          <a:solidFill>
                            <a:srgbClr val="E2E8F0"/>
                          </a:solidFill>
                          <a:latin typeface="Calibri"/>
                        </a:rPr>
                        <a:t>EBA / BIS phase-in schedule</a:t>
                      </a:r>
                    </a:p>
                  </a:txBody>
                  <a:tcPr marL="45000" marR="45000" marT="30000" marB="30000">
                    <a:solidFill>
                      <a:srgbClr val="1E293B"/>
                    </a:solidFill>
                  </a:tcPr>
                </a:tc>
                <a:tc>
                  <a:txBody>
                    <a:bodyPr wrap="square"/>
                    <a:lstStyle/>
                    <a:p>
                      <a:pPr algn="l"/>
                      <a:r>
                        <a:rPr sz="1200" b="0">
                          <a:solidFill>
                            <a:srgbClr val="E2E8F0"/>
                          </a:solidFill>
                          <a:latin typeface="Calibri"/>
                        </a:rPr>
                        <a:t>55% in 2026 → 72.5% in 2030. Floors capital downside.</a:t>
                      </a:r>
                    </a:p>
                  </a:txBody>
                  <a:tcPr marL="45000" marR="45000" marT="30000" marB="30000">
                    <a:solidFill>
                      <a:srgbClr val="1E293B"/>
                    </a:solidFill>
                  </a:tcPr>
                </a:tc>
              </a:tr>
              <a:tr h="548640">
                <a:tc>
                  <a:txBody>
                    <a:bodyPr wrap="square"/>
                    <a:lstStyle/>
                    <a:p>
                      <a:pPr algn="l"/>
                      <a:r>
                        <a:rPr sz="1200" b="0">
                          <a:solidFill>
                            <a:srgbClr val="E2E8F0"/>
                          </a:solidFill>
                          <a:latin typeface="Calibri"/>
                        </a:rPr>
                        <a:t>Credit Conversion Factors</a:t>
                      </a:r>
                    </a:p>
                  </a:txBody>
                  <a:tcPr marL="45000" marR="45000" marT="30000" marB="30000">
                    <a:solidFill>
                      <a:srgbClr val="1E293B"/>
                    </a:solidFill>
                  </a:tcPr>
                </a:tc>
                <a:tc>
                  <a:txBody>
                    <a:bodyPr wrap="square"/>
                    <a:lstStyle/>
                    <a:p>
                      <a:pPr algn="l"/>
                      <a:r>
                        <a:rPr sz="1200" b="0">
                          <a:solidFill>
                            <a:srgbClr val="E2E8F0"/>
                          </a:solidFill>
                          <a:latin typeface="Calibri"/>
                        </a:rPr>
                        <a:t>BCBS / EBA confirmed vs unconfirmed CCFs</a:t>
                      </a:r>
                    </a:p>
                  </a:txBody>
                  <a:tcPr marL="45000" marR="45000" marT="30000" marB="30000">
                    <a:solidFill>
                      <a:srgbClr val="1E293B"/>
                    </a:solidFill>
                  </a:tcPr>
                </a:tc>
                <a:tc>
                  <a:txBody>
                    <a:bodyPr wrap="square"/>
                    <a:lstStyle/>
                    <a:p>
                      <a:pPr algn="l"/>
                      <a:r>
                        <a:rPr sz="1200" b="0">
                          <a:solidFill>
                            <a:srgbClr val="E2E8F0"/>
                          </a:solidFill>
                          <a:latin typeface="Calibri"/>
                        </a:rPr>
                        <a:t>Drives EAD on the undrawn portion of revolvers.</a:t>
                      </a:r>
                    </a:p>
                  </a:txBody>
                  <a:tcPr marL="45000" marR="45000" marT="30000" marB="30000">
                    <a:solidFill>
                      <a:srgbClr val="1E293B"/>
                    </a:solidFill>
                  </a:tcPr>
                </a:tc>
              </a:tr>
            </a:tbl>
          </a:graphicData>
        </a:graphic>
      </p:graphicFrame>
      <p:sp>
        <p:nvSpPr>
          <p:cNvPr id="8" name="Rectangle 7"/>
          <p:cNvSpPr/>
          <p:nvPr/>
        </p:nvSpPr>
        <p:spPr>
          <a:xfrm>
            <a:off x="457200" y="5349240"/>
            <a:ext cx="11338560" cy="868680"/>
          </a:xfrm>
          <a:prstGeom prst="rect">
            <a:avLst/>
          </a:prstGeom>
          <a:solidFill>
            <a:srgbClr val="1E293B"/>
          </a:solidFill>
          <a:ln w="9525">
            <a:solidFill>
              <a:srgbClr val="4755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5486400"/>
            <a:ext cx="10972800" cy="320040"/>
          </a:xfrm>
          <a:prstGeom prst="rect">
            <a:avLst/>
          </a:prstGeom>
          <a:noFill/>
        </p:spPr>
        <p:txBody>
          <a:bodyPr wrap="square" lIns="0" rIns="0" tIns="0" bIns="0" anchor="t">
            <a:spAutoFit/>
          </a:bodyPr>
          <a:lstStyle/>
          <a:p>
            <a:pPr algn="l"/>
            <a:r>
              <a:rPr sz="1100" b="1">
                <a:solidFill>
                  <a:srgbClr val="38BDF8"/>
                </a:solidFill>
                <a:latin typeface="Calibri"/>
              </a:rPr>
              <a:t>Why this matters in your next meeting</a:t>
            </a:r>
          </a:p>
        </p:txBody>
      </p:sp>
      <p:sp>
        <p:nvSpPr>
          <p:cNvPr id="10" name="TextBox 9"/>
          <p:cNvSpPr txBox="1"/>
          <p:nvPr/>
        </p:nvSpPr>
        <p:spPr>
          <a:xfrm>
            <a:off x="685800" y="5779008"/>
            <a:ext cx="10972800" cy="457200"/>
          </a:xfrm>
          <a:prstGeom prst="rect">
            <a:avLst/>
          </a:prstGeom>
          <a:noFill/>
        </p:spPr>
        <p:txBody>
          <a:bodyPr wrap="square" lIns="0" rIns="0" tIns="0" bIns="0" anchor="t">
            <a:spAutoFit/>
          </a:bodyPr>
          <a:lstStyle/>
          <a:p>
            <a:pPr algn="l"/>
            <a:r>
              <a:rPr sz="1100" b="0">
                <a:solidFill>
                  <a:srgbClr val="94A3B8"/>
                </a:solidFill>
                <a:latin typeface="Calibri"/>
              </a:rPr>
              <a:t>Every input in our model comes from your bank's own annual report. Your RM cannot say "your tool is wrong" without first saying "our published filings are wrong". They won't.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ounded Rectangle 1"/>
          <p:cNvSpPr/>
          <p:nvPr/>
        </p:nvSpPr>
        <p:spPr>
          <a:xfrm>
            <a:off x="457200" y="365760"/>
            <a:ext cx="1645920" cy="292608"/>
          </a:xfrm>
          <a:prstGeom prst="roundRect">
            <a:avLst>
              <a:gd name="adj" fmla="val 50000"/>
            </a:avLst>
          </a:prstGeom>
          <a:solidFill>
            <a:srgbClr val="1E293B"/>
          </a:solidFill>
          <a:ln w="9525">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38BDF8"/>
                </a:solidFill>
                <a:latin typeface="Calibri"/>
              </a:rPr>
              <a:t>THE STORY</a:t>
            </a:r>
          </a:p>
        </p:txBody>
      </p:sp>
      <p:sp>
        <p:nvSpPr>
          <p:cNvPr id="3" name="TextBox 2"/>
          <p:cNvSpPr txBox="1"/>
          <p:nvPr/>
        </p:nvSpPr>
        <p:spPr>
          <a:xfrm>
            <a:off x="457200" y="777240"/>
            <a:ext cx="10972800" cy="640080"/>
          </a:xfrm>
          <a:prstGeom prst="rect">
            <a:avLst/>
          </a:prstGeom>
          <a:noFill/>
        </p:spPr>
        <p:txBody>
          <a:bodyPr wrap="square" lIns="0" rIns="0" tIns="0" bIns="0" anchor="t">
            <a:spAutoFit/>
          </a:bodyPr>
          <a:lstStyle/>
          <a:p>
            <a:pPr algn="l"/>
            <a:r>
              <a:rPr sz="3000" b="1">
                <a:solidFill>
                  <a:srgbClr val="FFFFFF"/>
                </a:solidFill>
                <a:latin typeface="Calibri"/>
              </a:rPr>
              <a:t>Meet Sabine. She's the CFO of Nordwind.</a:t>
            </a:r>
          </a:p>
        </p:txBody>
      </p:sp>
      <p:sp>
        <p:nvSpPr>
          <p:cNvPr id="4" name="TextBox 3"/>
          <p:cNvSpPr txBox="1"/>
          <p:nvPr/>
        </p:nvSpPr>
        <p:spPr>
          <a:xfrm>
            <a:off x="457200" y="1371600"/>
            <a:ext cx="10972800" cy="365760"/>
          </a:xfrm>
          <a:prstGeom prst="rect">
            <a:avLst/>
          </a:prstGeom>
          <a:noFill/>
        </p:spPr>
        <p:txBody>
          <a:bodyPr wrap="square" lIns="0" rIns="0" tIns="0" bIns="0" anchor="t">
            <a:spAutoFit/>
          </a:bodyPr>
          <a:lstStyle/>
          <a:p>
            <a:pPr algn="l"/>
            <a:r>
              <a:rPr sz="1400" b="0">
                <a:solidFill>
                  <a:srgbClr val="94A3B8"/>
                </a:solidFill>
                <a:latin typeface="Calibri"/>
              </a:rPr>
              <a:t>She just signed the wrong deal. Today's the post-mortem — and the playbook for next time.</a:t>
            </a:r>
          </a:p>
        </p:txBody>
      </p:sp>
      <p:sp>
        <p:nvSpPr>
          <p:cNvPr id="5" name="TextBox 4"/>
          <p:cNvSpPr txBox="1"/>
          <p:nvPr/>
        </p:nvSpPr>
        <p:spPr>
          <a:xfrm>
            <a:off x="457200" y="6400800"/>
            <a:ext cx="6400800" cy="274320"/>
          </a:xfrm>
          <a:prstGeom prst="rect">
            <a:avLst/>
          </a:prstGeom>
          <a:noFill/>
        </p:spPr>
        <p:txBody>
          <a:bodyPr wrap="square" lIns="0" rIns="0" tIns="0" bIns="0" anchor="t">
            <a:spAutoFit/>
          </a:bodyPr>
          <a:lstStyle/>
          <a:p>
            <a:pPr algn="l"/>
            <a:r>
              <a:rPr sz="1000" b="0">
                <a:solidFill>
                  <a:srgbClr val="64748B"/>
                </a:solidFill>
                <a:latin typeface="Calibri"/>
              </a:rPr>
              <a:t>OpenRAROC  •  See your credit through your banker's eyes</a:t>
            </a:r>
          </a:p>
        </p:txBody>
      </p:sp>
      <p:sp>
        <p:nvSpPr>
          <p:cNvPr id="6" name="TextBox 5"/>
          <p:cNvSpPr txBox="1"/>
          <p:nvPr/>
        </p:nvSpPr>
        <p:spPr>
          <a:xfrm>
            <a:off x="10058400" y="6400800"/>
            <a:ext cx="1828800" cy="274320"/>
          </a:xfrm>
          <a:prstGeom prst="rect">
            <a:avLst/>
          </a:prstGeom>
          <a:noFill/>
        </p:spPr>
        <p:txBody>
          <a:bodyPr wrap="square" lIns="0" rIns="0" tIns="0" bIns="0" anchor="t">
            <a:spAutoFit/>
          </a:bodyPr>
          <a:lstStyle/>
          <a:p>
            <a:pPr algn="r"/>
            <a:r>
              <a:rPr sz="1000" b="0">
                <a:solidFill>
                  <a:srgbClr val="64748B"/>
                </a:solidFill>
                <a:latin typeface="Calibri"/>
              </a:rPr>
              <a:t>5 / 12</a:t>
            </a:r>
          </a:p>
        </p:txBody>
      </p:sp>
      <p:sp>
        <p:nvSpPr>
          <p:cNvPr id="7" name="Rectangle 6"/>
          <p:cNvSpPr/>
          <p:nvPr/>
        </p:nvSpPr>
        <p:spPr>
          <a:xfrm>
            <a:off x="457200" y="1920240"/>
            <a:ext cx="5120640" cy="4251960"/>
          </a:xfrm>
          <a:prstGeom prst="rect">
            <a:avLst/>
          </a:prstGeom>
          <a:solidFill>
            <a:srgbClr val="1E293B"/>
          </a:solidFill>
          <a:ln w="9525">
            <a:solidFill>
              <a:srgbClr val="4755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2103120"/>
            <a:ext cx="4572000" cy="365760"/>
          </a:xfrm>
          <a:prstGeom prst="rect">
            <a:avLst/>
          </a:prstGeom>
          <a:noFill/>
        </p:spPr>
        <p:txBody>
          <a:bodyPr wrap="square" lIns="0" rIns="0" tIns="0" bIns="0" anchor="t">
            <a:spAutoFit/>
          </a:bodyPr>
          <a:lstStyle/>
          <a:p>
            <a:pPr algn="l"/>
            <a:r>
              <a:rPr sz="1000" b="1">
                <a:solidFill>
                  <a:srgbClr val="64748B"/>
                </a:solidFill>
                <a:latin typeface="Calibri"/>
              </a:rPr>
              <a:t>THE COMPANY</a:t>
            </a:r>
          </a:p>
        </p:txBody>
      </p:sp>
      <p:sp>
        <p:nvSpPr>
          <p:cNvPr id="9" name="TextBox 8"/>
          <p:cNvSpPr txBox="1"/>
          <p:nvPr/>
        </p:nvSpPr>
        <p:spPr>
          <a:xfrm>
            <a:off x="685800" y="2377440"/>
            <a:ext cx="4572000" cy="457200"/>
          </a:xfrm>
          <a:prstGeom prst="rect">
            <a:avLst/>
          </a:prstGeom>
          <a:noFill/>
        </p:spPr>
        <p:txBody>
          <a:bodyPr wrap="square" lIns="0" rIns="0" tIns="0" bIns="0" anchor="t">
            <a:spAutoFit/>
          </a:bodyPr>
          <a:lstStyle/>
          <a:p>
            <a:pPr algn="l"/>
            <a:r>
              <a:rPr sz="2000" b="1">
                <a:solidFill>
                  <a:srgbClr val="FFFFFF"/>
                </a:solidFill>
                <a:latin typeface="Calibri"/>
              </a:rPr>
              <a:t>Nordwind Industries GmbH</a:t>
            </a:r>
          </a:p>
        </p:txBody>
      </p:sp>
      <p:sp>
        <p:nvSpPr>
          <p:cNvPr id="10" name="TextBox 9"/>
          <p:cNvSpPr txBox="1"/>
          <p:nvPr/>
        </p:nvSpPr>
        <p:spPr>
          <a:xfrm>
            <a:off x="685800" y="2834640"/>
            <a:ext cx="4572000" cy="365760"/>
          </a:xfrm>
          <a:prstGeom prst="rect">
            <a:avLst/>
          </a:prstGeom>
          <a:noFill/>
        </p:spPr>
        <p:txBody>
          <a:bodyPr wrap="square" lIns="0" rIns="0" tIns="0" bIns="0" anchor="t">
            <a:spAutoFit/>
          </a:bodyPr>
          <a:lstStyle/>
          <a:p>
            <a:pPr algn="l"/>
            <a:r>
              <a:rPr sz="1200" b="0">
                <a:solidFill>
                  <a:srgbClr val="38BDF8"/>
                </a:solidFill>
                <a:latin typeface="Calibri"/>
              </a:rPr>
              <a:t>German Mittelstand • Industrial machinery</a:t>
            </a:r>
          </a:p>
        </p:txBody>
      </p:sp>
      <p:sp>
        <p:nvSpPr>
          <p:cNvPr id="11" name="TextBox 10"/>
          <p:cNvSpPr txBox="1"/>
          <p:nvPr/>
        </p:nvSpPr>
        <p:spPr>
          <a:xfrm>
            <a:off x="685800" y="3337560"/>
            <a:ext cx="2560320" cy="320040"/>
          </a:xfrm>
          <a:prstGeom prst="rect">
            <a:avLst/>
          </a:prstGeom>
          <a:noFill/>
        </p:spPr>
        <p:txBody>
          <a:bodyPr wrap="square" lIns="0" rIns="0" tIns="0" bIns="0" anchor="t">
            <a:spAutoFit/>
          </a:bodyPr>
          <a:lstStyle/>
          <a:p>
            <a:pPr algn="l"/>
            <a:r>
              <a:rPr sz="1100" b="0">
                <a:solidFill>
                  <a:srgbClr val="94A3B8"/>
                </a:solidFill>
                <a:latin typeface="Calibri"/>
              </a:rPr>
              <a:t>Revenue (FY)</a:t>
            </a:r>
          </a:p>
        </p:txBody>
      </p:sp>
      <p:sp>
        <p:nvSpPr>
          <p:cNvPr id="12" name="TextBox 11"/>
          <p:cNvSpPr txBox="1"/>
          <p:nvPr/>
        </p:nvSpPr>
        <p:spPr>
          <a:xfrm>
            <a:off x="3246120" y="3337560"/>
            <a:ext cx="2286000" cy="320040"/>
          </a:xfrm>
          <a:prstGeom prst="rect">
            <a:avLst/>
          </a:prstGeom>
          <a:noFill/>
        </p:spPr>
        <p:txBody>
          <a:bodyPr wrap="square" lIns="0" rIns="0" tIns="0" bIns="0" anchor="t">
            <a:spAutoFit/>
          </a:bodyPr>
          <a:lstStyle/>
          <a:p>
            <a:pPr algn="l"/>
            <a:r>
              <a:rPr sz="1100" b="1">
                <a:solidFill>
                  <a:srgbClr val="E2E8F0"/>
                </a:solidFill>
                <a:latin typeface="Calibri"/>
              </a:rPr>
              <a:t>EUR 820 m</a:t>
            </a:r>
          </a:p>
        </p:txBody>
      </p:sp>
      <p:sp>
        <p:nvSpPr>
          <p:cNvPr id="13" name="TextBox 12"/>
          <p:cNvSpPr txBox="1"/>
          <p:nvPr/>
        </p:nvSpPr>
        <p:spPr>
          <a:xfrm>
            <a:off x="685800" y="3721608"/>
            <a:ext cx="2560320" cy="320040"/>
          </a:xfrm>
          <a:prstGeom prst="rect">
            <a:avLst/>
          </a:prstGeom>
          <a:noFill/>
        </p:spPr>
        <p:txBody>
          <a:bodyPr wrap="square" lIns="0" rIns="0" tIns="0" bIns="0" anchor="t">
            <a:spAutoFit/>
          </a:bodyPr>
          <a:lstStyle/>
          <a:p>
            <a:pPr algn="l"/>
            <a:r>
              <a:rPr sz="1100" b="0">
                <a:solidFill>
                  <a:srgbClr val="94A3B8"/>
                </a:solidFill>
                <a:latin typeface="Calibri"/>
              </a:rPr>
              <a:t>EBITDA margin</a:t>
            </a:r>
          </a:p>
        </p:txBody>
      </p:sp>
      <p:sp>
        <p:nvSpPr>
          <p:cNvPr id="14" name="TextBox 13"/>
          <p:cNvSpPr txBox="1"/>
          <p:nvPr/>
        </p:nvSpPr>
        <p:spPr>
          <a:xfrm>
            <a:off x="3246120" y="3721608"/>
            <a:ext cx="2286000" cy="320040"/>
          </a:xfrm>
          <a:prstGeom prst="rect">
            <a:avLst/>
          </a:prstGeom>
          <a:noFill/>
        </p:spPr>
        <p:txBody>
          <a:bodyPr wrap="square" lIns="0" rIns="0" tIns="0" bIns="0" anchor="t">
            <a:spAutoFit/>
          </a:bodyPr>
          <a:lstStyle/>
          <a:p>
            <a:pPr algn="l"/>
            <a:r>
              <a:rPr sz="1100" b="1">
                <a:solidFill>
                  <a:srgbClr val="E2E8F0"/>
                </a:solidFill>
                <a:latin typeface="Calibri"/>
              </a:rPr>
              <a:t>11.4 %</a:t>
            </a:r>
          </a:p>
        </p:txBody>
      </p:sp>
      <p:sp>
        <p:nvSpPr>
          <p:cNvPr id="15" name="TextBox 14"/>
          <p:cNvSpPr txBox="1"/>
          <p:nvPr/>
        </p:nvSpPr>
        <p:spPr>
          <a:xfrm>
            <a:off x="685800" y="4105656"/>
            <a:ext cx="2560320" cy="320040"/>
          </a:xfrm>
          <a:prstGeom prst="rect">
            <a:avLst/>
          </a:prstGeom>
          <a:noFill/>
        </p:spPr>
        <p:txBody>
          <a:bodyPr wrap="square" lIns="0" rIns="0" tIns="0" bIns="0" anchor="t">
            <a:spAutoFit/>
          </a:bodyPr>
          <a:lstStyle/>
          <a:p>
            <a:pPr algn="l"/>
            <a:r>
              <a:rPr sz="1100" b="0">
                <a:solidFill>
                  <a:srgbClr val="94A3B8"/>
                </a:solidFill>
                <a:latin typeface="Calibri"/>
              </a:rPr>
              <a:t>Net leverage</a:t>
            </a:r>
          </a:p>
        </p:txBody>
      </p:sp>
      <p:sp>
        <p:nvSpPr>
          <p:cNvPr id="16" name="TextBox 15"/>
          <p:cNvSpPr txBox="1"/>
          <p:nvPr/>
        </p:nvSpPr>
        <p:spPr>
          <a:xfrm>
            <a:off x="3246120" y="4105656"/>
            <a:ext cx="2286000" cy="320040"/>
          </a:xfrm>
          <a:prstGeom prst="rect">
            <a:avLst/>
          </a:prstGeom>
          <a:noFill/>
        </p:spPr>
        <p:txBody>
          <a:bodyPr wrap="square" lIns="0" rIns="0" tIns="0" bIns="0" anchor="t">
            <a:spAutoFit/>
          </a:bodyPr>
          <a:lstStyle/>
          <a:p>
            <a:pPr algn="l"/>
            <a:r>
              <a:rPr sz="1100" b="1">
                <a:solidFill>
                  <a:srgbClr val="E2E8F0"/>
                </a:solidFill>
                <a:latin typeface="Calibri"/>
              </a:rPr>
              <a:t>2.1x</a:t>
            </a:r>
          </a:p>
        </p:txBody>
      </p:sp>
      <p:sp>
        <p:nvSpPr>
          <p:cNvPr id="17" name="TextBox 16"/>
          <p:cNvSpPr txBox="1"/>
          <p:nvPr/>
        </p:nvSpPr>
        <p:spPr>
          <a:xfrm>
            <a:off x="685800" y="4489704"/>
            <a:ext cx="2560320" cy="320040"/>
          </a:xfrm>
          <a:prstGeom prst="rect">
            <a:avLst/>
          </a:prstGeom>
          <a:noFill/>
        </p:spPr>
        <p:txBody>
          <a:bodyPr wrap="square" lIns="0" rIns="0" tIns="0" bIns="0" anchor="t">
            <a:spAutoFit/>
          </a:bodyPr>
          <a:lstStyle/>
          <a:p>
            <a:pPr algn="l"/>
            <a:r>
              <a:rPr sz="1100" b="0">
                <a:solidFill>
                  <a:srgbClr val="94A3B8"/>
                </a:solidFill>
                <a:latin typeface="Calibri"/>
              </a:rPr>
              <a:t>Public rating</a:t>
            </a:r>
          </a:p>
        </p:txBody>
      </p:sp>
      <p:sp>
        <p:nvSpPr>
          <p:cNvPr id="18" name="TextBox 17"/>
          <p:cNvSpPr txBox="1"/>
          <p:nvPr/>
        </p:nvSpPr>
        <p:spPr>
          <a:xfrm>
            <a:off x="3246120" y="4489704"/>
            <a:ext cx="2286000" cy="320040"/>
          </a:xfrm>
          <a:prstGeom prst="rect">
            <a:avLst/>
          </a:prstGeom>
          <a:noFill/>
        </p:spPr>
        <p:txBody>
          <a:bodyPr wrap="square" lIns="0" rIns="0" tIns="0" bIns="0" anchor="t">
            <a:spAutoFit/>
          </a:bodyPr>
          <a:lstStyle/>
          <a:p>
            <a:pPr algn="l"/>
            <a:r>
              <a:rPr sz="1100" b="1">
                <a:solidFill>
                  <a:srgbClr val="E2E8F0"/>
                </a:solidFill>
                <a:latin typeface="Calibri"/>
              </a:rPr>
              <a:t>BBB+ / Baa1</a:t>
            </a:r>
          </a:p>
        </p:txBody>
      </p:sp>
      <p:sp>
        <p:nvSpPr>
          <p:cNvPr id="19" name="TextBox 18"/>
          <p:cNvSpPr txBox="1"/>
          <p:nvPr/>
        </p:nvSpPr>
        <p:spPr>
          <a:xfrm>
            <a:off x="685800" y="4873752"/>
            <a:ext cx="2560320" cy="320040"/>
          </a:xfrm>
          <a:prstGeom prst="rect">
            <a:avLst/>
          </a:prstGeom>
          <a:noFill/>
        </p:spPr>
        <p:txBody>
          <a:bodyPr wrap="square" lIns="0" rIns="0" tIns="0" bIns="0" anchor="t">
            <a:spAutoFit/>
          </a:bodyPr>
          <a:lstStyle/>
          <a:p>
            <a:pPr algn="l"/>
            <a:r>
              <a:rPr sz="1100" b="0">
                <a:solidFill>
                  <a:srgbClr val="94A3B8"/>
                </a:solidFill>
                <a:latin typeface="Calibri"/>
              </a:rPr>
              <a:t>Parent guarantee</a:t>
            </a:r>
          </a:p>
        </p:txBody>
      </p:sp>
      <p:sp>
        <p:nvSpPr>
          <p:cNvPr id="20" name="TextBox 19"/>
          <p:cNvSpPr txBox="1"/>
          <p:nvPr/>
        </p:nvSpPr>
        <p:spPr>
          <a:xfrm>
            <a:off x="3246120" y="4873752"/>
            <a:ext cx="2286000" cy="320040"/>
          </a:xfrm>
          <a:prstGeom prst="rect">
            <a:avLst/>
          </a:prstGeom>
          <a:noFill/>
        </p:spPr>
        <p:txBody>
          <a:bodyPr wrap="square" lIns="0" rIns="0" tIns="0" bIns="0" anchor="t">
            <a:spAutoFit/>
          </a:bodyPr>
          <a:lstStyle/>
          <a:p>
            <a:pPr algn="l"/>
            <a:r>
              <a:rPr sz="1100" b="1">
                <a:solidFill>
                  <a:srgbClr val="E2E8F0"/>
                </a:solidFill>
                <a:latin typeface="Calibri"/>
              </a:rPr>
              <a:t>Yes — covers 50% (GRR)</a:t>
            </a:r>
          </a:p>
        </p:txBody>
      </p:sp>
      <p:sp>
        <p:nvSpPr>
          <p:cNvPr id="21" name="TextBox 20"/>
          <p:cNvSpPr txBox="1"/>
          <p:nvPr/>
        </p:nvSpPr>
        <p:spPr>
          <a:xfrm>
            <a:off x="685800" y="5257800"/>
            <a:ext cx="2560320" cy="320040"/>
          </a:xfrm>
          <a:prstGeom prst="rect">
            <a:avLst/>
          </a:prstGeom>
          <a:noFill/>
        </p:spPr>
        <p:txBody>
          <a:bodyPr wrap="square" lIns="0" rIns="0" tIns="0" bIns="0" anchor="t">
            <a:spAutoFit/>
          </a:bodyPr>
          <a:lstStyle/>
          <a:p>
            <a:pPr algn="l"/>
            <a:r>
              <a:rPr sz="1100" b="0">
                <a:solidFill>
                  <a:srgbClr val="94A3B8"/>
                </a:solidFill>
                <a:latin typeface="Calibri"/>
              </a:rPr>
              <a:t>Existing relationships</a:t>
            </a:r>
          </a:p>
        </p:txBody>
      </p:sp>
      <p:sp>
        <p:nvSpPr>
          <p:cNvPr id="22" name="TextBox 21"/>
          <p:cNvSpPr txBox="1"/>
          <p:nvPr/>
        </p:nvSpPr>
        <p:spPr>
          <a:xfrm>
            <a:off x="3246120" y="5257800"/>
            <a:ext cx="2286000" cy="320040"/>
          </a:xfrm>
          <a:prstGeom prst="rect">
            <a:avLst/>
          </a:prstGeom>
          <a:noFill/>
        </p:spPr>
        <p:txBody>
          <a:bodyPr wrap="square" lIns="0" rIns="0" tIns="0" bIns="0" anchor="t">
            <a:spAutoFit/>
          </a:bodyPr>
          <a:lstStyle/>
          <a:p>
            <a:pPr algn="l"/>
            <a:r>
              <a:rPr sz="1100" b="1">
                <a:solidFill>
                  <a:srgbClr val="E2E8F0"/>
                </a:solidFill>
                <a:latin typeface="Calibri"/>
              </a:rPr>
              <a:t>BNP, HSBC, Deutsche, ING, SocGen</a:t>
            </a:r>
          </a:p>
        </p:txBody>
      </p:sp>
      <p:sp>
        <p:nvSpPr>
          <p:cNvPr id="23" name="Rectangle 22"/>
          <p:cNvSpPr/>
          <p:nvPr/>
        </p:nvSpPr>
        <p:spPr>
          <a:xfrm>
            <a:off x="5806440" y="1920240"/>
            <a:ext cx="5943600" cy="4251960"/>
          </a:xfrm>
          <a:prstGeom prst="rect">
            <a:avLst/>
          </a:prstGeom>
          <a:solidFill>
            <a:srgbClr val="1E293B"/>
          </a:solidFill>
          <a:ln w="1905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035040" y="2103120"/>
            <a:ext cx="5486400" cy="365760"/>
          </a:xfrm>
          <a:prstGeom prst="rect">
            <a:avLst/>
          </a:prstGeom>
          <a:noFill/>
        </p:spPr>
        <p:txBody>
          <a:bodyPr wrap="square" lIns="0" rIns="0" tIns="0" bIns="0" anchor="t">
            <a:spAutoFit/>
          </a:bodyPr>
          <a:lstStyle/>
          <a:p>
            <a:pPr algn="l"/>
            <a:r>
              <a:rPr sz="1000" b="1">
                <a:solidFill>
                  <a:srgbClr val="38BDF8"/>
                </a:solidFill>
                <a:latin typeface="Calibri"/>
              </a:rPr>
              <a:t>THE DEAL SHE SIGNED LAST QUARTER</a:t>
            </a:r>
          </a:p>
        </p:txBody>
      </p:sp>
      <p:sp>
        <p:nvSpPr>
          <p:cNvPr id="25" name="TextBox 24"/>
          <p:cNvSpPr txBox="1"/>
          <p:nvPr/>
        </p:nvSpPr>
        <p:spPr>
          <a:xfrm>
            <a:off x="6035040" y="2377440"/>
            <a:ext cx="5486400" cy="457200"/>
          </a:xfrm>
          <a:prstGeom prst="rect">
            <a:avLst/>
          </a:prstGeom>
          <a:noFill/>
        </p:spPr>
        <p:txBody>
          <a:bodyPr wrap="square" lIns="0" rIns="0" tIns="0" bIns="0" anchor="t">
            <a:spAutoFit/>
          </a:bodyPr>
          <a:lstStyle/>
          <a:p>
            <a:pPr algn="l"/>
            <a:r>
              <a:rPr sz="2000" b="1">
                <a:solidFill>
                  <a:srgbClr val="FFFFFF"/>
                </a:solidFill>
                <a:latin typeface="Calibri"/>
              </a:rPr>
              <a:t>5-year revolving credit facility</a:t>
            </a:r>
          </a:p>
        </p:txBody>
      </p:sp>
      <p:sp>
        <p:nvSpPr>
          <p:cNvPr id="26" name="TextBox 25"/>
          <p:cNvSpPr txBox="1"/>
          <p:nvPr/>
        </p:nvSpPr>
        <p:spPr>
          <a:xfrm>
            <a:off x="6035040" y="2834640"/>
            <a:ext cx="5486400" cy="365760"/>
          </a:xfrm>
          <a:prstGeom prst="rect">
            <a:avLst/>
          </a:prstGeom>
          <a:noFill/>
        </p:spPr>
        <p:txBody>
          <a:bodyPr wrap="square" lIns="0" rIns="0" tIns="0" bIns="0" anchor="t">
            <a:spAutoFit/>
          </a:bodyPr>
          <a:lstStyle/>
          <a:p>
            <a:pPr algn="l"/>
            <a:r>
              <a:rPr sz="1200" b="0">
                <a:solidFill>
                  <a:srgbClr val="94A3B8"/>
                </a:solidFill>
                <a:latin typeface="Calibri"/>
              </a:rPr>
              <a:t>Refi + general corporate purposes — quoted by BNP</a:t>
            </a:r>
          </a:p>
        </p:txBody>
      </p:sp>
      <p:sp>
        <p:nvSpPr>
          <p:cNvPr id="27" name="TextBox 26"/>
          <p:cNvSpPr txBox="1"/>
          <p:nvPr/>
        </p:nvSpPr>
        <p:spPr>
          <a:xfrm>
            <a:off x="6035040" y="3291840"/>
            <a:ext cx="2743200" cy="320040"/>
          </a:xfrm>
          <a:prstGeom prst="rect">
            <a:avLst/>
          </a:prstGeom>
          <a:noFill/>
        </p:spPr>
        <p:txBody>
          <a:bodyPr wrap="square" lIns="0" rIns="0" tIns="0" bIns="0" anchor="t">
            <a:spAutoFit/>
          </a:bodyPr>
          <a:lstStyle/>
          <a:p>
            <a:pPr algn="l"/>
            <a:r>
              <a:rPr sz="1100" b="0">
                <a:solidFill>
                  <a:srgbClr val="94A3B8"/>
                </a:solidFill>
                <a:latin typeface="Calibri"/>
              </a:rPr>
              <a:t>Committed amount</a:t>
            </a:r>
          </a:p>
        </p:txBody>
      </p:sp>
      <p:sp>
        <p:nvSpPr>
          <p:cNvPr id="28" name="TextBox 27"/>
          <p:cNvSpPr txBox="1"/>
          <p:nvPr/>
        </p:nvSpPr>
        <p:spPr>
          <a:xfrm>
            <a:off x="8778240" y="3291840"/>
            <a:ext cx="2926080" cy="320040"/>
          </a:xfrm>
          <a:prstGeom prst="rect">
            <a:avLst/>
          </a:prstGeom>
          <a:noFill/>
        </p:spPr>
        <p:txBody>
          <a:bodyPr wrap="square" lIns="0" rIns="0" tIns="0" bIns="0" anchor="t">
            <a:spAutoFit/>
          </a:bodyPr>
          <a:lstStyle/>
          <a:p>
            <a:pPr algn="l"/>
            <a:r>
              <a:rPr sz="1100" b="1">
                <a:solidFill>
                  <a:srgbClr val="E2E8F0"/>
                </a:solidFill>
                <a:latin typeface="Calibri"/>
              </a:rPr>
              <a:t>EUR 50 m</a:t>
            </a:r>
          </a:p>
        </p:txBody>
      </p:sp>
      <p:sp>
        <p:nvSpPr>
          <p:cNvPr id="29" name="TextBox 28"/>
          <p:cNvSpPr txBox="1"/>
          <p:nvPr/>
        </p:nvSpPr>
        <p:spPr>
          <a:xfrm>
            <a:off x="6035040" y="3666744"/>
            <a:ext cx="2743200" cy="320040"/>
          </a:xfrm>
          <a:prstGeom prst="rect">
            <a:avLst/>
          </a:prstGeom>
          <a:noFill/>
        </p:spPr>
        <p:txBody>
          <a:bodyPr wrap="square" lIns="0" rIns="0" tIns="0" bIns="0" anchor="t">
            <a:spAutoFit/>
          </a:bodyPr>
          <a:lstStyle/>
          <a:p>
            <a:pPr algn="l"/>
            <a:r>
              <a:rPr sz="1100" b="0">
                <a:solidFill>
                  <a:srgbClr val="94A3B8"/>
                </a:solidFill>
                <a:latin typeface="Calibri"/>
              </a:rPr>
              <a:t>Expected average drawn</a:t>
            </a:r>
          </a:p>
        </p:txBody>
      </p:sp>
      <p:sp>
        <p:nvSpPr>
          <p:cNvPr id="30" name="TextBox 29"/>
          <p:cNvSpPr txBox="1"/>
          <p:nvPr/>
        </p:nvSpPr>
        <p:spPr>
          <a:xfrm>
            <a:off x="8778240" y="3666744"/>
            <a:ext cx="2926080" cy="320040"/>
          </a:xfrm>
          <a:prstGeom prst="rect">
            <a:avLst/>
          </a:prstGeom>
          <a:noFill/>
        </p:spPr>
        <p:txBody>
          <a:bodyPr wrap="square" lIns="0" rIns="0" tIns="0" bIns="0" anchor="t">
            <a:spAutoFit/>
          </a:bodyPr>
          <a:lstStyle/>
          <a:p>
            <a:pPr algn="l"/>
            <a:r>
              <a:rPr sz="1100" b="1">
                <a:solidFill>
                  <a:srgbClr val="E2E8F0"/>
                </a:solidFill>
                <a:latin typeface="Calibri"/>
              </a:rPr>
              <a:t>EUR 35 m  (70 %)</a:t>
            </a:r>
          </a:p>
        </p:txBody>
      </p:sp>
      <p:sp>
        <p:nvSpPr>
          <p:cNvPr id="31" name="TextBox 30"/>
          <p:cNvSpPr txBox="1"/>
          <p:nvPr/>
        </p:nvSpPr>
        <p:spPr>
          <a:xfrm>
            <a:off x="6035040" y="4041648"/>
            <a:ext cx="2743200" cy="320040"/>
          </a:xfrm>
          <a:prstGeom prst="rect">
            <a:avLst/>
          </a:prstGeom>
          <a:noFill/>
        </p:spPr>
        <p:txBody>
          <a:bodyPr wrap="square" lIns="0" rIns="0" tIns="0" bIns="0" anchor="t">
            <a:spAutoFit/>
          </a:bodyPr>
          <a:lstStyle/>
          <a:p>
            <a:pPr algn="l"/>
            <a:r>
              <a:rPr sz="1100" b="0">
                <a:solidFill>
                  <a:srgbClr val="94A3B8"/>
                </a:solidFill>
                <a:latin typeface="Calibri"/>
              </a:rPr>
              <a:t>Tenor</a:t>
            </a:r>
          </a:p>
        </p:txBody>
      </p:sp>
      <p:sp>
        <p:nvSpPr>
          <p:cNvPr id="32" name="TextBox 31"/>
          <p:cNvSpPr txBox="1"/>
          <p:nvPr/>
        </p:nvSpPr>
        <p:spPr>
          <a:xfrm>
            <a:off x="8778240" y="4041648"/>
            <a:ext cx="2926080" cy="320040"/>
          </a:xfrm>
          <a:prstGeom prst="rect">
            <a:avLst/>
          </a:prstGeom>
          <a:noFill/>
        </p:spPr>
        <p:txBody>
          <a:bodyPr wrap="square" lIns="0" rIns="0" tIns="0" bIns="0" anchor="t">
            <a:spAutoFit/>
          </a:bodyPr>
          <a:lstStyle/>
          <a:p>
            <a:pPr algn="l"/>
            <a:r>
              <a:rPr sz="1100" b="1">
                <a:solidFill>
                  <a:srgbClr val="E2E8F0"/>
                </a:solidFill>
                <a:latin typeface="Calibri"/>
              </a:rPr>
              <a:t>5 years (60 m), bullet</a:t>
            </a:r>
          </a:p>
        </p:txBody>
      </p:sp>
      <p:sp>
        <p:nvSpPr>
          <p:cNvPr id="33" name="TextBox 32"/>
          <p:cNvSpPr txBox="1"/>
          <p:nvPr/>
        </p:nvSpPr>
        <p:spPr>
          <a:xfrm>
            <a:off x="6035040" y="4416552"/>
            <a:ext cx="2743200" cy="320040"/>
          </a:xfrm>
          <a:prstGeom prst="rect">
            <a:avLst/>
          </a:prstGeom>
          <a:noFill/>
        </p:spPr>
        <p:txBody>
          <a:bodyPr wrap="square" lIns="0" rIns="0" tIns="0" bIns="0" anchor="t">
            <a:spAutoFit/>
          </a:bodyPr>
          <a:lstStyle/>
          <a:p>
            <a:pPr algn="l"/>
            <a:r>
              <a:rPr sz="1100" b="0">
                <a:solidFill>
                  <a:srgbClr val="94A3B8"/>
                </a:solidFill>
                <a:latin typeface="Calibri"/>
              </a:rPr>
              <a:t>Spread</a:t>
            </a:r>
          </a:p>
        </p:txBody>
      </p:sp>
      <p:sp>
        <p:nvSpPr>
          <p:cNvPr id="34" name="TextBox 33"/>
          <p:cNvSpPr txBox="1"/>
          <p:nvPr/>
        </p:nvSpPr>
        <p:spPr>
          <a:xfrm>
            <a:off x="8778240" y="4416552"/>
            <a:ext cx="2926080" cy="320040"/>
          </a:xfrm>
          <a:prstGeom prst="rect">
            <a:avLst/>
          </a:prstGeom>
          <a:noFill/>
        </p:spPr>
        <p:txBody>
          <a:bodyPr wrap="square" lIns="0" rIns="0" tIns="0" bIns="0" anchor="t">
            <a:spAutoFit/>
          </a:bodyPr>
          <a:lstStyle/>
          <a:p>
            <a:pPr algn="l"/>
            <a:r>
              <a:rPr sz="1100" b="1">
                <a:solidFill>
                  <a:srgbClr val="E2E8F0"/>
                </a:solidFill>
                <a:latin typeface="Calibri"/>
              </a:rPr>
              <a:t>150 bp</a:t>
            </a:r>
          </a:p>
        </p:txBody>
      </p:sp>
      <p:sp>
        <p:nvSpPr>
          <p:cNvPr id="35" name="TextBox 34"/>
          <p:cNvSpPr txBox="1"/>
          <p:nvPr/>
        </p:nvSpPr>
        <p:spPr>
          <a:xfrm>
            <a:off x="6035040" y="4791456"/>
            <a:ext cx="2743200" cy="320040"/>
          </a:xfrm>
          <a:prstGeom prst="rect">
            <a:avLst/>
          </a:prstGeom>
          <a:noFill/>
        </p:spPr>
        <p:txBody>
          <a:bodyPr wrap="square" lIns="0" rIns="0" tIns="0" bIns="0" anchor="t">
            <a:spAutoFit/>
          </a:bodyPr>
          <a:lstStyle/>
          <a:p>
            <a:pPr algn="l"/>
            <a:r>
              <a:rPr sz="1100" b="0">
                <a:solidFill>
                  <a:srgbClr val="94A3B8"/>
                </a:solidFill>
                <a:latin typeface="Calibri"/>
              </a:rPr>
              <a:t>Commitment fee (undrawn)</a:t>
            </a:r>
          </a:p>
        </p:txBody>
      </p:sp>
      <p:sp>
        <p:nvSpPr>
          <p:cNvPr id="36" name="TextBox 35"/>
          <p:cNvSpPr txBox="1"/>
          <p:nvPr/>
        </p:nvSpPr>
        <p:spPr>
          <a:xfrm>
            <a:off x="8778240" y="4791456"/>
            <a:ext cx="2926080" cy="320040"/>
          </a:xfrm>
          <a:prstGeom prst="rect">
            <a:avLst/>
          </a:prstGeom>
          <a:noFill/>
        </p:spPr>
        <p:txBody>
          <a:bodyPr wrap="square" lIns="0" rIns="0" tIns="0" bIns="0" anchor="t">
            <a:spAutoFit/>
          </a:bodyPr>
          <a:lstStyle/>
          <a:p>
            <a:pPr algn="l"/>
            <a:r>
              <a:rPr sz="1100" b="1">
                <a:solidFill>
                  <a:srgbClr val="E2E8F0"/>
                </a:solidFill>
                <a:latin typeface="Calibri"/>
              </a:rPr>
              <a:t>20 bp</a:t>
            </a:r>
          </a:p>
        </p:txBody>
      </p:sp>
      <p:sp>
        <p:nvSpPr>
          <p:cNvPr id="37" name="TextBox 36"/>
          <p:cNvSpPr txBox="1"/>
          <p:nvPr/>
        </p:nvSpPr>
        <p:spPr>
          <a:xfrm>
            <a:off x="6035040" y="5166360"/>
            <a:ext cx="2743200" cy="320040"/>
          </a:xfrm>
          <a:prstGeom prst="rect">
            <a:avLst/>
          </a:prstGeom>
          <a:noFill/>
        </p:spPr>
        <p:txBody>
          <a:bodyPr wrap="square" lIns="0" rIns="0" tIns="0" bIns="0" anchor="t">
            <a:spAutoFit/>
          </a:bodyPr>
          <a:lstStyle/>
          <a:p>
            <a:pPr algn="l"/>
            <a:r>
              <a:rPr sz="1100" b="0">
                <a:solidFill>
                  <a:srgbClr val="94A3B8"/>
                </a:solidFill>
                <a:latin typeface="Calibri"/>
              </a:rPr>
              <a:t>Participation fee (one-off)</a:t>
            </a:r>
          </a:p>
        </p:txBody>
      </p:sp>
      <p:sp>
        <p:nvSpPr>
          <p:cNvPr id="38" name="TextBox 37"/>
          <p:cNvSpPr txBox="1"/>
          <p:nvPr/>
        </p:nvSpPr>
        <p:spPr>
          <a:xfrm>
            <a:off x="8778240" y="5166360"/>
            <a:ext cx="2926080" cy="320040"/>
          </a:xfrm>
          <a:prstGeom prst="rect">
            <a:avLst/>
          </a:prstGeom>
          <a:noFill/>
        </p:spPr>
        <p:txBody>
          <a:bodyPr wrap="square" lIns="0" rIns="0" tIns="0" bIns="0" anchor="t">
            <a:spAutoFit/>
          </a:bodyPr>
          <a:lstStyle/>
          <a:p>
            <a:pPr algn="l"/>
            <a:r>
              <a:rPr sz="1100" b="1">
                <a:solidFill>
                  <a:srgbClr val="E2E8F0"/>
                </a:solidFill>
                <a:latin typeface="Calibri"/>
              </a:rPr>
              <a:t>EUR 50 k</a:t>
            </a:r>
          </a:p>
        </p:txBody>
      </p:sp>
      <p:sp>
        <p:nvSpPr>
          <p:cNvPr id="39" name="TextBox 38"/>
          <p:cNvSpPr txBox="1"/>
          <p:nvPr/>
        </p:nvSpPr>
        <p:spPr>
          <a:xfrm>
            <a:off x="6035040" y="5541264"/>
            <a:ext cx="2743200" cy="320040"/>
          </a:xfrm>
          <a:prstGeom prst="rect">
            <a:avLst/>
          </a:prstGeom>
          <a:noFill/>
        </p:spPr>
        <p:txBody>
          <a:bodyPr wrap="square" lIns="0" rIns="0" tIns="0" bIns="0" anchor="t">
            <a:spAutoFit/>
          </a:bodyPr>
          <a:lstStyle/>
          <a:p>
            <a:pPr algn="l"/>
            <a:r>
              <a:rPr sz="1100" b="0">
                <a:solidFill>
                  <a:srgbClr val="94A3B8"/>
                </a:solidFill>
                <a:latin typeface="Calibri"/>
              </a:rPr>
              <a:t>Confirmed / Committed</a:t>
            </a:r>
          </a:p>
        </p:txBody>
      </p:sp>
      <p:sp>
        <p:nvSpPr>
          <p:cNvPr id="40" name="TextBox 39"/>
          <p:cNvSpPr txBox="1"/>
          <p:nvPr/>
        </p:nvSpPr>
        <p:spPr>
          <a:xfrm>
            <a:off x="8778240" y="5541264"/>
            <a:ext cx="2926080" cy="320040"/>
          </a:xfrm>
          <a:prstGeom prst="rect">
            <a:avLst/>
          </a:prstGeom>
          <a:noFill/>
        </p:spPr>
        <p:txBody>
          <a:bodyPr wrap="square" lIns="0" rIns="0" tIns="0" bIns="0" anchor="t">
            <a:spAutoFit/>
          </a:bodyPr>
          <a:lstStyle/>
          <a:p>
            <a:pPr algn="l"/>
            <a:r>
              <a:rPr sz="1100" b="1">
                <a:solidFill>
                  <a:srgbClr val="E2E8F0"/>
                </a:solidFill>
                <a:latin typeface="Calibri"/>
              </a:rPr>
              <a:t>Yes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ounded Rectangle 1"/>
          <p:cNvSpPr/>
          <p:nvPr/>
        </p:nvSpPr>
        <p:spPr>
          <a:xfrm>
            <a:off x="457200" y="365760"/>
            <a:ext cx="1645920" cy="292608"/>
          </a:xfrm>
          <a:prstGeom prst="roundRect">
            <a:avLst>
              <a:gd name="adj" fmla="val 50000"/>
            </a:avLst>
          </a:prstGeom>
          <a:solidFill>
            <a:srgbClr val="1E293B"/>
          </a:solidFill>
          <a:ln w="9525">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38BDF8"/>
                </a:solidFill>
                <a:latin typeface="Calibri"/>
              </a:rPr>
              <a:t>CHAPTER 1 — WHAT YOUR BANK SEES</a:t>
            </a:r>
          </a:p>
        </p:txBody>
      </p:sp>
      <p:sp>
        <p:nvSpPr>
          <p:cNvPr id="3" name="TextBox 2"/>
          <p:cNvSpPr txBox="1"/>
          <p:nvPr/>
        </p:nvSpPr>
        <p:spPr>
          <a:xfrm>
            <a:off x="457200" y="777240"/>
            <a:ext cx="10972800" cy="640080"/>
          </a:xfrm>
          <a:prstGeom prst="rect">
            <a:avLst/>
          </a:prstGeom>
          <a:noFill/>
        </p:spPr>
        <p:txBody>
          <a:bodyPr wrap="square" lIns="0" rIns="0" tIns="0" bIns="0" anchor="t">
            <a:spAutoFit/>
          </a:bodyPr>
          <a:lstStyle/>
          <a:p>
            <a:pPr algn="l"/>
            <a:r>
              <a:rPr sz="3000" b="1">
                <a:solidFill>
                  <a:srgbClr val="FFFFFF"/>
                </a:solidFill>
                <a:latin typeface="Calibri"/>
              </a:rPr>
              <a:t>BNP's RAROC on Sabine's deal, line by line.</a:t>
            </a:r>
          </a:p>
        </p:txBody>
      </p:sp>
      <p:sp>
        <p:nvSpPr>
          <p:cNvPr id="4" name="TextBox 3"/>
          <p:cNvSpPr txBox="1"/>
          <p:nvPr/>
        </p:nvSpPr>
        <p:spPr>
          <a:xfrm>
            <a:off x="457200" y="1371600"/>
            <a:ext cx="10972800" cy="365760"/>
          </a:xfrm>
          <a:prstGeom prst="rect">
            <a:avLst/>
          </a:prstGeom>
          <a:noFill/>
        </p:spPr>
        <p:txBody>
          <a:bodyPr wrap="square" lIns="0" rIns="0" tIns="0" bIns="0" anchor="t">
            <a:spAutoFit/>
          </a:bodyPr>
          <a:lstStyle/>
          <a:p>
            <a:pPr algn="l"/>
            <a:r>
              <a:rPr sz="1400" b="0">
                <a:solidFill>
                  <a:srgbClr val="94A3B8"/>
                </a:solidFill>
                <a:latin typeface="Calibri"/>
              </a:rPr>
              <a:t>Same numbers BNP's pricing committee approved against. Now visible to you.</a:t>
            </a:r>
          </a:p>
        </p:txBody>
      </p:sp>
      <p:sp>
        <p:nvSpPr>
          <p:cNvPr id="5" name="TextBox 4"/>
          <p:cNvSpPr txBox="1"/>
          <p:nvPr/>
        </p:nvSpPr>
        <p:spPr>
          <a:xfrm>
            <a:off x="457200" y="6400800"/>
            <a:ext cx="6400800" cy="274320"/>
          </a:xfrm>
          <a:prstGeom prst="rect">
            <a:avLst/>
          </a:prstGeom>
          <a:noFill/>
        </p:spPr>
        <p:txBody>
          <a:bodyPr wrap="square" lIns="0" rIns="0" tIns="0" bIns="0" anchor="t">
            <a:spAutoFit/>
          </a:bodyPr>
          <a:lstStyle/>
          <a:p>
            <a:pPr algn="l"/>
            <a:r>
              <a:rPr sz="1000" b="0">
                <a:solidFill>
                  <a:srgbClr val="64748B"/>
                </a:solidFill>
                <a:latin typeface="Calibri"/>
              </a:rPr>
              <a:t>OpenRAROC  •  See your credit through your banker's eyes</a:t>
            </a:r>
          </a:p>
        </p:txBody>
      </p:sp>
      <p:sp>
        <p:nvSpPr>
          <p:cNvPr id="6" name="TextBox 5"/>
          <p:cNvSpPr txBox="1"/>
          <p:nvPr/>
        </p:nvSpPr>
        <p:spPr>
          <a:xfrm>
            <a:off x="10058400" y="6400800"/>
            <a:ext cx="1828800" cy="274320"/>
          </a:xfrm>
          <a:prstGeom prst="rect">
            <a:avLst/>
          </a:prstGeom>
          <a:noFill/>
        </p:spPr>
        <p:txBody>
          <a:bodyPr wrap="square" lIns="0" rIns="0" tIns="0" bIns="0" anchor="t">
            <a:spAutoFit/>
          </a:bodyPr>
          <a:lstStyle/>
          <a:p>
            <a:pPr algn="r"/>
            <a:r>
              <a:rPr sz="1000" b="0">
                <a:solidFill>
                  <a:srgbClr val="64748B"/>
                </a:solidFill>
                <a:latin typeface="Calibri"/>
              </a:rPr>
              <a:t>6 / 12</a:t>
            </a:r>
          </a:p>
        </p:txBody>
      </p:sp>
      <p:graphicFrame>
        <p:nvGraphicFramePr>
          <p:cNvPr id="7" name="Table 6"/>
          <p:cNvGraphicFramePr>
            <a:graphicFrameLocks noGrp="1"/>
          </p:cNvGraphicFramePr>
          <p:nvPr/>
        </p:nvGraphicFramePr>
        <p:xfrm>
          <a:off x="457200" y="1828800"/>
          <a:ext cx="7315200" cy="4114800"/>
        </p:xfrm>
        <a:graphic>
          <a:graphicData uri="http://schemas.openxmlformats.org/drawingml/2006/table">
            <a:tbl>
              <a:tblPr firstRow="1" bandRow="1">
                <a:tableStyleId>{5C22544A-7EE6-4342-B048-85BDC9FD1C3A}</a:tableStyleId>
              </a:tblPr>
              <a:tblGrid>
                <a:gridCol w="1828800"/>
                <a:gridCol w="2194560"/>
                <a:gridCol w="3291840"/>
              </a:tblGrid>
              <a:tr h="374072">
                <a:tc>
                  <a:txBody>
                    <a:bodyPr wrap="square"/>
                    <a:lstStyle/>
                    <a:p>
                      <a:pPr algn="l"/>
                      <a:r>
                        <a:rPr sz="1000" b="1">
                          <a:solidFill>
                            <a:srgbClr val="38BDF8"/>
                          </a:solidFill>
                          <a:latin typeface="Calibri"/>
                        </a:rPr>
                        <a:t>Line</a:t>
                      </a:r>
                    </a:p>
                  </a:txBody>
                  <a:tcPr marL="45000" marR="45000" marT="30000" marB="30000">
                    <a:solidFill>
                      <a:srgbClr val="334155"/>
                    </a:solidFill>
                  </a:tcPr>
                </a:tc>
                <a:tc>
                  <a:txBody>
                    <a:bodyPr wrap="square"/>
                    <a:lstStyle/>
                    <a:p>
                      <a:pPr algn="r"/>
                      <a:r>
                        <a:rPr sz="1000" b="1">
                          <a:solidFill>
                            <a:srgbClr val="38BDF8"/>
                          </a:solidFill>
                          <a:latin typeface="Calibri"/>
                        </a:rPr>
                        <a:t>Value</a:t>
                      </a:r>
                    </a:p>
                  </a:txBody>
                  <a:tcPr marL="45000" marR="45000" marT="30000" marB="30000">
                    <a:solidFill>
                      <a:srgbClr val="334155"/>
                    </a:solidFill>
                  </a:tcPr>
                </a:tc>
                <a:tc>
                  <a:txBody>
                    <a:bodyPr wrap="square"/>
                    <a:lstStyle/>
                    <a:p>
                      <a:pPr algn="l"/>
                      <a:r>
                        <a:rPr sz="1000" b="1">
                          <a:solidFill>
                            <a:srgbClr val="38BDF8"/>
                          </a:solidFill>
                          <a:latin typeface="Calibri"/>
                        </a:rPr>
                        <a:t>Plain English</a:t>
                      </a:r>
                    </a:p>
                  </a:txBody>
                  <a:tcPr marL="45000" marR="45000" marT="30000" marB="30000">
                    <a:solidFill>
                      <a:srgbClr val="334155"/>
                    </a:solidFill>
                  </a:tcPr>
                </a:tc>
              </a:tr>
              <a:tr h="374072">
                <a:tc>
                  <a:txBody>
                    <a:bodyPr wrap="square"/>
                    <a:lstStyle/>
                    <a:p>
                      <a:pPr algn="l"/>
                      <a:r>
                        <a:rPr sz="1000" b="0">
                          <a:solidFill>
                            <a:srgbClr val="E2E8F0"/>
                          </a:solidFill>
                          <a:latin typeface="Calibri"/>
                        </a:rPr>
                        <a:t>Revenue</a:t>
                      </a:r>
                    </a:p>
                  </a:txBody>
                  <a:tcPr marL="45000" marR="45000" marT="30000" marB="30000">
                    <a:solidFill>
                      <a:srgbClr val="1E293B"/>
                    </a:solidFill>
                  </a:tcPr>
                </a:tc>
                <a:tc>
                  <a:txBody>
                    <a:bodyPr wrap="square"/>
                    <a:lstStyle/>
                    <a:p>
                      <a:pPr algn="r"/>
                      <a:r>
                        <a:rPr sz="1000" b="0">
                          <a:solidFill>
                            <a:srgbClr val="E2E8F0"/>
                          </a:solidFill>
                          <a:latin typeface="Calibri"/>
                        </a:rPr>
                        <a:t>EUR 605,000</a:t>
                      </a:r>
                    </a:p>
                  </a:txBody>
                  <a:tcPr marL="45000" marR="45000" marT="30000" marB="30000">
                    <a:solidFill>
                      <a:srgbClr val="1E293B"/>
                    </a:solidFill>
                  </a:tcPr>
                </a:tc>
                <a:tc>
                  <a:txBody>
                    <a:bodyPr wrap="square"/>
                    <a:lstStyle/>
                    <a:p>
                      <a:pPr algn="l"/>
                      <a:r>
                        <a:rPr sz="1000" b="0">
                          <a:solidFill>
                            <a:srgbClr val="E2E8F0"/>
                          </a:solidFill>
                          <a:latin typeface="Calibri"/>
                        </a:rPr>
                        <a:t>What BNP earns annually from spread + fees</a:t>
                      </a:r>
                    </a:p>
                  </a:txBody>
                  <a:tcPr marL="45000" marR="45000" marT="30000" marB="30000">
                    <a:solidFill>
                      <a:srgbClr val="1E293B"/>
                    </a:solidFill>
                  </a:tcPr>
                </a:tc>
              </a:tr>
              <a:tr h="374072">
                <a:tc>
                  <a:txBody>
                    <a:bodyPr wrap="square"/>
                    <a:lstStyle/>
                    <a:p>
                      <a:pPr algn="l"/>
                      <a:r>
                        <a:rPr sz="1000" b="0">
                          <a:solidFill>
                            <a:srgbClr val="E2E8F0"/>
                          </a:solidFill>
                          <a:latin typeface="Calibri"/>
                        </a:rPr>
                        <a:t>Operating cost</a:t>
                      </a:r>
                    </a:p>
                  </a:txBody>
                  <a:tcPr marL="45000" marR="45000" marT="30000" marB="30000">
                    <a:solidFill>
                      <a:srgbClr val="1E293B"/>
                    </a:solidFill>
                  </a:tcPr>
                </a:tc>
                <a:tc>
                  <a:txBody>
                    <a:bodyPr wrap="square"/>
                    <a:lstStyle/>
                    <a:p>
                      <a:pPr algn="r"/>
                      <a:r>
                        <a:rPr sz="1000" b="0">
                          <a:solidFill>
                            <a:srgbClr val="E2E8F0"/>
                          </a:solidFill>
                          <a:latin typeface="Calibri"/>
                        </a:rPr>
                        <a:t>EUR 242,000</a:t>
                      </a:r>
                    </a:p>
                  </a:txBody>
                  <a:tcPr marL="45000" marR="45000" marT="30000" marB="30000">
                    <a:solidFill>
                      <a:srgbClr val="1E293B"/>
                    </a:solidFill>
                  </a:tcPr>
                </a:tc>
                <a:tc>
                  <a:txBody>
                    <a:bodyPr wrap="square"/>
                    <a:lstStyle/>
                    <a:p>
                      <a:pPr algn="l"/>
                      <a:r>
                        <a:rPr sz="1000" b="0">
                          <a:solidFill>
                            <a:srgbClr val="E2E8F0"/>
                          </a:solidFill>
                          <a:latin typeface="Calibri"/>
                        </a:rPr>
                        <a:t>BNP's cost to run the relationship (~40% of rev)</a:t>
                      </a:r>
                    </a:p>
                  </a:txBody>
                  <a:tcPr marL="45000" marR="45000" marT="30000" marB="30000">
                    <a:solidFill>
                      <a:srgbClr val="1E293B"/>
                    </a:solidFill>
                  </a:tcPr>
                </a:tc>
              </a:tr>
              <a:tr h="374072">
                <a:tc>
                  <a:txBody>
                    <a:bodyPr wrap="square"/>
                    <a:lstStyle/>
                    <a:p>
                      <a:pPr algn="l"/>
                      <a:r>
                        <a:rPr sz="1000" b="0">
                          <a:solidFill>
                            <a:srgbClr val="E2E8F0"/>
                          </a:solidFill>
                          <a:latin typeface="Calibri"/>
                        </a:rPr>
                        <a:t>EAD</a:t>
                      </a:r>
                    </a:p>
                  </a:txBody>
                  <a:tcPr marL="45000" marR="45000" marT="30000" marB="30000">
                    <a:solidFill>
                      <a:srgbClr val="1E293B"/>
                    </a:solidFill>
                  </a:tcPr>
                </a:tc>
                <a:tc>
                  <a:txBody>
                    <a:bodyPr wrap="square"/>
                    <a:lstStyle/>
                    <a:p>
                      <a:pPr algn="r"/>
                      <a:r>
                        <a:rPr sz="1000" b="0">
                          <a:solidFill>
                            <a:srgbClr val="E2E8F0"/>
                          </a:solidFill>
                          <a:latin typeface="Calibri"/>
                        </a:rPr>
                        <a:t>EUR 46,250,000</a:t>
                      </a:r>
                    </a:p>
                  </a:txBody>
                  <a:tcPr marL="45000" marR="45000" marT="30000" marB="30000">
                    <a:solidFill>
                      <a:srgbClr val="1E293B"/>
                    </a:solidFill>
                  </a:tcPr>
                </a:tc>
                <a:tc>
                  <a:txBody>
                    <a:bodyPr wrap="square"/>
                    <a:lstStyle/>
                    <a:p>
                      <a:pPr algn="l"/>
                      <a:r>
                        <a:rPr sz="1000" b="0">
                          <a:solidFill>
                            <a:srgbClr val="E2E8F0"/>
                          </a:solidFill>
                          <a:latin typeface="Calibri"/>
                        </a:rPr>
                        <a:t>BNP's exposure if you default (drawn + 75% undrawn)</a:t>
                      </a:r>
                    </a:p>
                  </a:txBody>
                  <a:tcPr marL="45000" marR="45000" marT="30000" marB="30000">
                    <a:solidFill>
                      <a:srgbClr val="1E293B"/>
                    </a:solidFill>
                  </a:tcPr>
                </a:tc>
              </a:tr>
              <a:tr h="374072">
                <a:tc>
                  <a:txBody>
                    <a:bodyPr wrap="square"/>
                    <a:lstStyle/>
                    <a:p>
                      <a:pPr algn="l"/>
                      <a:r>
                        <a:rPr sz="1000" b="0">
                          <a:solidFill>
                            <a:srgbClr val="E2E8F0"/>
                          </a:solidFill>
                          <a:latin typeface="Calibri"/>
                        </a:rPr>
                        <a:t>PD (Baa1)</a:t>
                      </a:r>
                    </a:p>
                  </a:txBody>
                  <a:tcPr marL="45000" marR="45000" marT="30000" marB="30000">
                    <a:solidFill>
                      <a:srgbClr val="1E293B"/>
                    </a:solidFill>
                  </a:tcPr>
                </a:tc>
                <a:tc>
                  <a:txBody>
                    <a:bodyPr wrap="square"/>
                    <a:lstStyle/>
                    <a:p>
                      <a:pPr algn="r"/>
                      <a:r>
                        <a:rPr sz="1000" b="0">
                          <a:solidFill>
                            <a:srgbClr val="E2E8F0"/>
                          </a:solidFill>
                          <a:latin typeface="Calibri"/>
                        </a:rPr>
                        <a:t>0.10 %</a:t>
                      </a:r>
                    </a:p>
                  </a:txBody>
                  <a:tcPr marL="45000" marR="45000" marT="30000" marB="30000">
                    <a:solidFill>
                      <a:srgbClr val="1E293B"/>
                    </a:solidFill>
                  </a:tcPr>
                </a:tc>
                <a:tc>
                  <a:txBody>
                    <a:bodyPr wrap="square"/>
                    <a:lstStyle/>
                    <a:p>
                      <a:pPr algn="l"/>
                      <a:r>
                        <a:rPr sz="1000" b="0">
                          <a:solidFill>
                            <a:srgbClr val="E2E8F0"/>
                          </a:solidFill>
                          <a:latin typeface="Calibri"/>
                        </a:rPr>
                        <a:t>Annual probability of default at your rating</a:t>
                      </a:r>
                    </a:p>
                  </a:txBody>
                  <a:tcPr marL="45000" marR="45000" marT="30000" marB="30000">
                    <a:solidFill>
                      <a:srgbClr val="1E293B"/>
                    </a:solidFill>
                  </a:tcPr>
                </a:tc>
              </a:tr>
              <a:tr h="374072">
                <a:tc>
                  <a:txBody>
                    <a:bodyPr wrap="square"/>
                    <a:lstStyle/>
                    <a:p>
                      <a:pPr algn="l"/>
                      <a:r>
                        <a:rPr sz="1000" b="0">
                          <a:solidFill>
                            <a:srgbClr val="E2E8F0"/>
                          </a:solidFill>
                          <a:latin typeface="Calibri"/>
                        </a:rPr>
                        <a:t>PD adj. for GRR</a:t>
                      </a:r>
                    </a:p>
                  </a:txBody>
                  <a:tcPr marL="45000" marR="45000" marT="30000" marB="30000">
                    <a:solidFill>
                      <a:srgbClr val="1E293B"/>
                    </a:solidFill>
                  </a:tcPr>
                </a:tc>
                <a:tc>
                  <a:txBody>
                    <a:bodyPr wrap="square"/>
                    <a:lstStyle/>
                    <a:p>
                      <a:pPr algn="r"/>
                      <a:r>
                        <a:rPr sz="1000" b="0">
                          <a:solidFill>
                            <a:srgbClr val="E2E8F0"/>
                          </a:solidFill>
                          <a:latin typeface="Calibri"/>
                        </a:rPr>
                        <a:t>0.05 %</a:t>
                      </a:r>
                    </a:p>
                  </a:txBody>
                  <a:tcPr marL="45000" marR="45000" marT="30000" marB="30000">
                    <a:solidFill>
                      <a:srgbClr val="1E293B"/>
                    </a:solidFill>
                  </a:tcPr>
                </a:tc>
                <a:tc>
                  <a:txBody>
                    <a:bodyPr wrap="square"/>
                    <a:lstStyle/>
                    <a:p>
                      <a:pPr algn="l"/>
                      <a:r>
                        <a:rPr sz="1000" b="0">
                          <a:solidFill>
                            <a:srgbClr val="E2E8F0"/>
                          </a:solidFill>
                          <a:latin typeface="Calibri"/>
                        </a:rPr>
                        <a:t>After the parent guarantee absorbs half the loss</a:t>
                      </a:r>
                    </a:p>
                  </a:txBody>
                  <a:tcPr marL="45000" marR="45000" marT="30000" marB="30000">
                    <a:solidFill>
                      <a:srgbClr val="1E293B"/>
                    </a:solidFill>
                  </a:tcPr>
                </a:tc>
              </a:tr>
              <a:tr h="374072">
                <a:tc>
                  <a:txBody>
                    <a:bodyPr wrap="square"/>
                    <a:lstStyle/>
                    <a:p>
                      <a:pPr algn="l"/>
                      <a:r>
                        <a:rPr sz="1000" b="0">
                          <a:solidFill>
                            <a:srgbClr val="E2E8F0"/>
                          </a:solidFill>
                          <a:latin typeface="Calibri"/>
                        </a:rPr>
                        <a:t>Risk weight K</a:t>
                      </a:r>
                    </a:p>
                  </a:txBody>
                  <a:tcPr marL="45000" marR="45000" marT="30000" marB="30000">
                    <a:solidFill>
                      <a:srgbClr val="1E293B"/>
                    </a:solidFill>
                  </a:tcPr>
                </a:tc>
                <a:tc>
                  <a:txBody>
                    <a:bodyPr wrap="square"/>
                    <a:lstStyle/>
                    <a:p>
                      <a:pPr algn="r"/>
                      <a:r>
                        <a:rPr sz="1000" b="0">
                          <a:solidFill>
                            <a:srgbClr val="E2E8F0"/>
                          </a:solidFill>
                          <a:latin typeface="Calibri"/>
                        </a:rPr>
                        <a:t>4.26 %</a:t>
                      </a:r>
                    </a:p>
                  </a:txBody>
                  <a:tcPr marL="45000" marR="45000" marT="30000" marB="30000">
                    <a:solidFill>
                      <a:srgbClr val="1E293B"/>
                    </a:solidFill>
                  </a:tcPr>
                </a:tc>
                <a:tc>
                  <a:txBody>
                    <a:bodyPr wrap="square"/>
                    <a:lstStyle/>
                    <a:p>
                      <a:pPr algn="l"/>
                      <a:r>
                        <a:rPr sz="1000" b="0">
                          <a:solidFill>
                            <a:srgbClr val="E2E8F0"/>
                          </a:solidFill>
                          <a:latin typeface="Calibri"/>
                        </a:rPr>
                        <a:t>% of EAD BNP holds as regulatory capital</a:t>
                      </a:r>
                    </a:p>
                  </a:txBody>
                  <a:tcPr marL="45000" marR="45000" marT="30000" marB="30000">
                    <a:solidFill>
                      <a:srgbClr val="1E293B"/>
                    </a:solidFill>
                  </a:tcPr>
                </a:tc>
              </a:tr>
              <a:tr h="374072">
                <a:tc>
                  <a:txBody>
                    <a:bodyPr wrap="square"/>
                    <a:lstStyle/>
                    <a:p>
                      <a:pPr algn="l"/>
                      <a:r>
                        <a:rPr sz="1000" b="0">
                          <a:solidFill>
                            <a:srgbClr val="E2E8F0"/>
                          </a:solidFill>
                          <a:latin typeface="Calibri"/>
                        </a:rPr>
                        <a:t>FPE (capital)</a:t>
                      </a:r>
                    </a:p>
                  </a:txBody>
                  <a:tcPr marL="45000" marR="45000" marT="30000" marB="30000">
                    <a:solidFill>
                      <a:srgbClr val="1E293B"/>
                    </a:solidFill>
                  </a:tcPr>
                </a:tc>
                <a:tc>
                  <a:txBody>
                    <a:bodyPr wrap="square"/>
                    <a:lstStyle/>
                    <a:p>
                      <a:pPr algn="r"/>
                      <a:r>
                        <a:rPr sz="1000" b="0">
                          <a:solidFill>
                            <a:srgbClr val="E2E8F0"/>
                          </a:solidFill>
                          <a:latin typeface="Calibri"/>
                        </a:rPr>
                        <a:t>EUR 1,971,714</a:t>
                      </a:r>
                    </a:p>
                  </a:txBody>
                  <a:tcPr marL="45000" marR="45000" marT="30000" marB="30000">
                    <a:solidFill>
                      <a:srgbClr val="1E293B"/>
                    </a:solidFill>
                  </a:tcPr>
                </a:tc>
                <a:tc>
                  <a:txBody>
                    <a:bodyPr wrap="square"/>
                    <a:lstStyle/>
                    <a:p>
                      <a:pPr algn="l"/>
                      <a:r>
                        <a:rPr sz="1000" b="0">
                          <a:solidFill>
                            <a:srgbClr val="E2E8F0"/>
                          </a:solidFill>
                          <a:latin typeface="Calibri"/>
                        </a:rPr>
                        <a:t>BNP's equity locked up against your facility</a:t>
                      </a:r>
                    </a:p>
                  </a:txBody>
                  <a:tcPr marL="45000" marR="45000" marT="30000" marB="30000">
                    <a:solidFill>
                      <a:srgbClr val="1E293B"/>
                    </a:solidFill>
                  </a:tcPr>
                </a:tc>
              </a:tr>
              <a:tr h="374072">
                <a:tc>
                  <a:txBody>
                    <a:bodyPr wrap="square"/>
                    <a:lstStyle/>
                    <a:p>
                      <a:pPr algn="l"/>
                      <a:r>
                        <a:rPr sz="1000" b="0">
                          <a:solidFill>
                            <a:srgbClr val="E2E8F0"/>
                          </a:solidFill>
                          <a:latin typeface="Calibri"/>
                        </a:rPr>
                        <a:t>Expected loss</a:t>
                      </a:r>
                    </a:p>
                  </a:txBody>
                  <a:tcPr marL="45000" marR="45000" marT="30000" marB="30000">
                    <a:solidFill>
                      <a:srgbClr val="1E293B"/>
                    </a:solidFill>
                  </a:tcPr>
                </a:tc>
                <a:tc>
                  <a:txBody>
                    <a:bodyPr wrap="square"/>
                    <a:lstStyle/>
                    <a:p>
                      <a:pPr algn="r"/>
                      <a:r>
                        <a:rPr sz="1000" b="0">
                          <a:solidFill>
                            <a:srgbClr val="E2E8F0"/>
                          </a:solidFill>
                          <a:latin typeface="Calibri"/>
                        </a:rPr>
                        <a:t>EUR 23,125</a:t>
                      </a:r>
                    </a:p>
                  </a:txBody>
                  <a:tcPr marL="45000" marR="45000" marT="30000" marB="30000">
                    <a:solidFill>
                      <a:srgbClr val="1E293B"/>
                    </a:solidFill>
                  </a:tcPr>
                </a:tc>
                <a:tc>
                  <a:txBody>
                    <a:bodyPr wrap="square"/>
                    <a:lstStyle/>
                    <a:p>
                      <a:pPr algn="l"/>
                      <a:r>
                        <a:rPr sz="1000" b="0">
                          <a:solidFill>
                            <a:srgbClr val="E2E8F0"/>
                          </a:solidFill>
                          <a:latin typeface="Calibri"/>
                        </a:rPr>
                        <a:t>Average annual loss across many possible futures</a:t>
                      </a:r>
                    </a:p>
                  </a:txBody>
                  <a:tcPr marL="45000" marR="45000" marT="30000" marB="30000">
                    <a:solidFill>
                      <a:srgbClr val="1E293B"/>
                    </a:solidFill>
                  </a:tcPr>
                </a:tc>
              </a:tr>
              <a:tr h="374072">
                <a:tc>
                  <a:txBody>
                    <a:bodyPr wrap="square"/>
                    <a:lstStyle/>
                    <a:p>
                      <a:pPr algn="l"/>
                      <a:r>
                        <a:rPr sz="1000" b="0">
                          <a:solidFill>
                            <a:srgbClr val="E2E8F0"/>
                          </a:solidFill>
                          <a:latin typeface="Calibri"/>
                        </a:rPr>
                        <a:t>Net margin</a:t>
                      </a:r>
                    </a:p>
                  </a:txBody>
                  <a:tcPr marL="45000" marR="45000" marT="30000" marB="30000">
                    <a:solidFill>
                      <a:srgbClr val="1E293B"/>
                    </a:solidFill>
                  </a:tcPr>
                </a:tc>
                <a:tc>
                  <a:txBody>
                    <a:bodyPr wrap="square"/>
                    <a:lstStyle/>
                    <a:p>
                      <a:pPr algn="r"/>
                      <a:r>
                        <a:rPr sz="1000" b="0">
                          <a:solidFill>
                            <a:srgbClr val="E2E8F0"/>
                          </a:solidFill>
                          <a:latin typeface="Calibri"/>
                        </a:rPr>
                        <a:t>EUR 334,581</a:t>
                      </a:r>
                    </a:p>
                  </a:txBody>
                  <a:tcPr marL="45000" marR="45000" marT="30000" marB="30000">
                    <a:solidFill>
                      <a:srgbClr val="1E293B"/>
                    </a:solidFill>
                  </a:tcPr>
                </a:tc>
                <a:tc>
                  <a:txBody>
                    <a:bodyPr wrap="square"/>
                    <a:lstStyle/>
                    <a:p>
                      <a:pPr algn="l"/>
                      <a:r>
                        <a:rPr sz="1000" b="0">
                          <a:solidFill>
                            <a:srgbClr val="E2E8F0"/>
                          </a:solidFill>
                          <a:latin typeface="Calibri"/>
                        </a:rPr>
                        <a:t>Pre-tax economic profit on the deal</a:t>
                      </a:r>
                    </a:p>
                  </a:txBody>
                  <a:tcPr marL="45000" marR="45000" marT="30000" marB="30000">
                    <a:solidFill>
                      <a:srgbClr val="1E293B"/>
                    </a:solidFill>
                  </a:tcPr>
                </a:tc>
              </a:tr>
              <a:tr h="374080">
                <a:tc>
                  <a:txBody>
                    <a:bodyPr wrap="square"/>
                    <a:lstStyle/>
                    <a:p>
                      <a:pPr algn="l"/>
                      <a:r>
                        <a:rPr sz="1000" b="0">
                          <a:solidFill>
                            <a:srgbClr val="E2E8F0"/>
                          </a:solidFill>
                          <a:latin typeface="Calibri"/>
                        </a:rPr>
                        <a:t>Tax (BNP, 26%)</a:t>
                      </a:r>
                    </a:p>
                  </a:txBody>
                  <a:tcPr marL="45000" marR="45000" marT="30000" marB="30000">
                    <a:solidFill>
                      <a:srgbClr val="1E293B"/>
                    </a:solidFill>
                  </a:tcPr>
                </a:tc>
                <a:tc>
                  <a:txBody>
                    <a:bodyPr wrap="square"/>
                    <a:lstStyle/>
                    <a:p>
                      <a:pPr algn="r"/>
                      <a:r>
                        <a:rPr sz="1000" b="0">
                          <a:solidFill>
                            <a:srgbClr val="E2E8F0"/>
                          </a:solidFill>
                          <a:latin typeface="Calibri"/>
                        </a:rPr>
                        <a:t>EUR 87,660</a:t>
                      </a:r>
                    </a:p>
                  </a:txBody>
                  <a:tcPr marL="45000" marR="45000" marT="30000" marB="30000">
                    <a:solidFill>
                      <a:srgbClr val="1E293B"/>
                    </a:solidFill>
                  </a:tcPr>
                </a:tc>
                <a:tc>
                  <a:txBody>
                    <a:bodyPr wrap="square"/>
                    <a:lstStyle/>
                    <a:p>
                      <a:pPr algn="l"/>
                      <a:r>
                        <a:rPr sz="1000" b="0">
                          <a:solidFill>
                            <a:srgbClr val="E2E8F0"/>
                          </a:solidFill>
                          <a:latin typeface="Calibri"/>
                        </a:rPr>
                        <a:t>French effective tax rate from BNP's URD 2024</a:t>
                      </a:r>
                    </a:p>
                  </a:txBody>
                  <a:tcPr marL="45000" marR="45000" marT="30000" marB="30000">
                    <a:solidFill>
                      <a:srgbClr val="1E293B"/>
                    </a:solidFill>
                  </a:tcPr>
                </a:tc>
              </a:tr>
            </a:tbl>
          </a:graphicData>
        </a:graphic>
      </p:graphicFrame>
      <p:sp>
        <p:nvSpPr>
          <p:cNvPr id="8" name="Rectangle 7"/>
          <p:cNvSpPr/>
          <p:nvPr/>
        </p:nvSpPr>
        <p:spPr>
          <a:xfrm>
            <a:off x="7955279" y="1828800"/>
            <a:ext cx="3840480" cy="4114800"/>
          </a:xfrm>
          <a:prstGeom prst="rect">
            <a:avLst/>
          </a:prstGeom>
          <a:solidFill>
            <a:srgbClr val="1E293B"/>
          </a:solidFill>
          <a:ln w="1905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138160" y="2011680"/>
            <a:ext cx="3657600" cy="365760"/>
          </a:xfrm>
          <a:prstGeom prst="rect">
            <a:avLst/>
          </a:prstGeom>
          <a:noFill/>
        </p:spPr>
        <p:txBody>
          <a:bodyPr wrap="square" lIns="0" rIns="0" tIns="0" bIns="0" anchor="t">
            <a:spAutoFit/>
          </a:bodyPr>
          <a:lstStyle/>
          <a:p>
            <a:pPr algn="l"/>
            <a:r>
              <a:rPr sz="1000" b="1">
                <a:solidFill>
                  <a:srgbClr val="38BDF8"/>
                </a:solidFill>
                <a:latin typeface="Calibri"/>
              </a:rPr>
              <a:t>BNP's RAROC</a:t>
            </a:r>
          </a:p>
        </p:txBody>
      </p:sp>
      <p:sp>
        <p:nvSpPr>
          <p:cNvPr id="10" name="TextBox 9"/>
          <p:cNvSpPr txBox="1"/>
          <p:nvPr/>
        </p:nvSpPr>
        <p:spPr>
          <a:xfrm>
            <a:off x="8138160" y="2331720"/>
            <a:ext cx="3657600" cy="640080"/>
          </a:xfrm>
          <a:prstGeom prst="rect">
            <a:avLst/>
          </a:prstGeom>
          <a:noFill/>
        </p:spPr>
        <p:txBody>
          <a:bodyPr wrap="square" lIns="0" rIns="0" tIns="0" bIns="0" anchor="t">
            <a:spAutoFit/>
          </a:bodyPr>
          <a:lstStyle/>
          <a:p>
            <a:pPr algn="l"/>
            <a:r>
              <a:rPr sz="1400" b="0">
                <a:solidFill>
                  <a:srgbClr val="94A3B8"/>
                </a:solidFill>
                <a:latin typeface="Calibri"/>
              </a:rPr>
              <a:t>Computed</a:t>
            </a:r>
          </a:p>
        </p:txBody>
      </p:sp>
      <p:sp>
        <p:nvSpPr>
          <p:cNvPr id="11" name="TextBox 10"/>
          <p:cNvSpPr txBox="1"/>
          <p:nvPr/>
        </p:nvSpPr>
        <p:spPr>
          <a:xfrm>
            <a:off x="8138160" y="2697480"/>
            <a:ext cx="3657600" cy="1188720"/>
          </a:xfrm>
          <a:prstGeom prst="rect">
            <a:avLst/>
          </a:prstGeom>
          <a:noFill/>
        </p:spPr>
        <p:txBody>
          <a:bodyPr wrap="square" lIns="0" rIns="0" tIns="0" bIns="0" anchor="t">
            <a:spAutoFit/>
          </a:bodyPr>
          <a:lstStyle/>
          <a:p>
            <a:pPr algn="l"/>
            <a:r>
              <a:rPr sz="5400" b="1">
                <a:solidFill>
                  <a:srgbClr val="22C55E"/>
                </a:solidFill>
                <a:latin typeface="Calibri"/>
              </a:rPr>
              <a:t>12.52 %</a:t>
            </a:r>
          </a:p>
        </p:txBody>
      </p:sp>
      <p:sp>
        <p:nvSpPr>
          <p:cNvPr id="12" name="TextBox 11"/>
          <p:cNvSpPr txBox="1"/>
          <p:nvPr/>
        </p:nvSpPr>
        <p:spPr>
          <a:xfrm>
            <a:off x="8138160" y="3931920"/>
            <a:ext cx="3657600" cy="365760"/>
          </a:xfrm>
          <a:prstGeom prst="rect">
            <a:avLst/>
          </a:prstGeom>
          <a:noFill/>
        </p:spPr>
        <p:txBody>
          <a:bodyPr wrap="square" lIns="0" rIns="0" tIns="0" bIns="0" anchor="t">
            <a:spAutoFit/>
          </a:bodyPr>
          <a:lstStyle/>
          <a:p>
            <a:pPr algn="l"/>
            <a:r>
              <a:rPr sz="1100" b="0">
                <a:solidFill>
                  <a:srgbClr val="94A3B8"/>
                </a:solidFill>
                <a:latin typeface="Calibri"/>
              </a:rPr>
              <a:t>vs ~12 % typical European hurdle</a:t>
            </a:r>
          </a:p>
        </p:txBody>
      </p:sp>
      <p:cxnSp>
        <p:nvCxnSpPr>
          <p:cNvPr id="13" name="Connector 12"/>
          <p:cNvCxnSpPr/>
          <p:nvPr/>
        </p:nvCxnSpPr>
        <p:spPr>
          <a:xfrm>
            <a:off x="8138160" y="4434840"/>
            <a:ext cx="3474720" cy="0"/>
          </a:xfrm>
          <a:prstGeom prst="line">
            <a:avLst/>
          </a:prstGeom>
          <a:ln w="9525">
            <a:solidFill>
              <a:srgbClr val="475569"/>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8138160" y="4526280"/>
            <a:ext cx="3657600" cy="320040"/>
          </a:xfrm>
          <a:prstGeom prst="rect">
            <a:avLst/>
          </a:prstGeom>
          <a:noFill/>
        </p:spPr>
        <p:txBody>
          <a:bodyPr wrap="square" lIns="0" rIns="0" tIns="0" bIns="0" anchor="t">
            <a:spAutoFit/>
          </a:bodyPr>
          <a:lstStyle/>
          <a:p>
            <a:pPr algn="l"/>
            <a:r>
              <a:rPr sz="900" b="1">
                <a:solidFill>
                  <a:srgbClr val="64748B"/>
                </a:solidFill>
                <a:latin typeface="Calibri"/>
              </a:rPr>
              <a:t>WHAT THIS MEANS FOR SABINE</a:t>
            </a:r>
          </a:p>
        </p:txBody>
      </p:sp>
      <p:sp>
        <p:nvSpPr>
          <p:cNvPr id="15" name="TextBox 14"/>
          <p:cNvSpPr txBox="1"/>
          <p:nvPr/>
        </p:nvSpPr>
        <p:spPr>
          <a:xfrm>
            <a:off x="8138160" y="4800600"/>
            <a:ext cx="3657600" cy="365760"/>
          </a:xfrm>
          <a:prstGeom prst="rect">
            <a:avLst/>
          </a:prstGeom>
          <a:noFill/>
        </p:spPr>
        <p:txBody>
          <a:bodyPr wrap="square" lIns="0" rIns="0" tIns="0" bIns="0" anchor="t">
            <a:spAutoFit/>
          </a:bodyPr>
          <a:lstStyle/>
          <a:p>
            <a:pPr algn="l"/>
            <a:r>
              <a:rPr sz="1800" b="1">
                <a:solidFill>
                  <a:srgbClr val="FFFFFF"/>
                </a:solidFill>
                <a:latin typeface="Calibri"/>
              </a:rPr>
              <a:t>EUR 23k / year of comfort</a:t>
            </a:r>
          </a:p>
        </p:txBody>
      </p:sp>
      <p:sp>
        <p:nvSpPr>
          <p:cNvPr id="16" name="TextBox 15"/>
          <p:cNvSpPr txBox="1"/>
          <p:nvPr/>
        </p:nvSpPr>
        <p:spPr>
          <a:xfrm>
            <a:off x="8138160" y="5212080"/>
            <a:ext cx="3657600" cy="457200"/>
          </a:xfrm>
          <a:prstGeom prst="rect">
            <a:avLst/>
          </a:prstGeom>
          <a:noFill/>
        </p:spPr>
        <p:txBody>
          <a:bodyPr wrap="square" lIns="0" rIns="0" tIns="0" bIns="0" anchor="t">
            <a:spAutoFit/>
          </a:bodyPr>
          <a:lstStyle/>
          <a:p>
            <a:pPr algn="l"/>
            <a:r>
              <a:rPr sz="1100" b="0">
                <a:solidFill>
                  <a:srgbClr val="94A3B8"/>
                </a:solidFill>
                <a:latin typeface="Calibri"/>
              </a:rPr>
              <a:t>BNP can give that back and still hit hurdle.
They were never going to volunteer it.</a:t>
            </a:r>
          </a:p>
        </p:txBody>
      </p:sp>
      <p:sp>
        <p:nvSpPr>
          <p:cNvPr id="17" name="TextBox 16"/>
          <p:cNvSpPr txBox="1"/>
          <p:nvPr/>
        </p:nvSpPr>
        <p:spPr>
          <a:xfrm>
            <a:off x="457200" y="6080760"/>
            <a:ext cx="10972800" cy="365760"/>
          </a:xfrm>
          <a:prstGeom prst="rect">
            <a:avLst/>
          </a:prstGeom>
          <a:noFill/>
        </p:spPr>
        <p:txBody>
          <a:bodyPr wrap="square" lIns="0" rIns="0" tIns="0" bIns="0" anchor="t">
            <a:spAutoFit/>
          </a:bodyPr>
          <a:lstStyle/>
          <a:p>
            <a:pPr algn="l"/>
            <a:r>
              <a:rPr sz="1100" b="0">
                <a:solidFill>
                  <a:srgbClr val="64748B"/>
                </a:solidFill>
                <a:latin typeface="Calibri"/>
              </a:rPr>
              <a:t>Live walk-through — type any deal, every line moves in real time.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ounded Rectangle 1"/>
          <p:cNvSpPr/>
          <p:nvPr/>
        </p:nvSpPr>
        <p:spPr>
          <a:xfrm>
            <a:off x="457200" y="365760"/>
            <a:ext cx="1645920" cy="292608"/>
          </a:xfrm>
          <a:prstGeom prst="roundRect">
            <a:avLst>
              <a:gd name="adj" fmla="val 50000"/>
            </a:avLst>
          </a:prstGeom>
          <a:solidFill>
            <a:srgbClr val="1E293B"/>
          </a:solidFill>
          <a:ln w="9525">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38BDF8"/>
                </a:solidFill>
                <a:latin typeface="Calibri"/>
              </a:rPr>
              <a:t>CHAPTER 1 — WHAT YOUR BANK SEES</a:t>
            </a:r>
          </a:p>
        </p:txBody>
      </p:sp>
      <p:sp>
        <p:nvSpPr>
          <p:cNvPr id="3" name="TextBox 2"/>
          <p:cNvSpPr txBox="1"/>
          <p:nvPr/>
        </p:nvSpPr>
        <p:spPr>
          <a:xfrm>
            <a:off x="457200" y="777240"/>
            <a:ext cx="10972800" cy="640080"/>
          </a:xfrm>
          <a:prstGeom prst="rect">
            <a:avLst/>
          </a:prstGeom>
          <a:noFill/>
        </p:spPr>
        <p:txBody>
          <a:bodyPr wrap="square" lIns="0" rIns="0" tIns="0" bIns="0" anchor="t">
            <a:spAutoFit/>
          </a:bodyPr>
          <a:lstStyle/>
          <a:p>
            <a:pPr algn="l"/>
            <a:r>
              <a:rPr sz="3000" b="1">
                <a:solidFill>
                  <a:srgbClr val="FFFFFF"/>
                </a:solidFill>
                <a:latin typeface="Calibri"/>
              </a:rPr>
              <a:t>Four sentences Sabine couldn't say last quarter.</a:t>
            </a:r>
          </a:p>
        </p:txBody>
      </p:sp>
      <p:sp>
        <p:nvSpPr>
          <p:cNvPr id="4" name="TextBox 3"/>
          <p:cNvSpPr txBox="1"/>
          <p:nvPr/>
        </p:nvSpPr>
        <p:spPr>
          <a:xfrm>
            <a:off x="457200" y="1371600"/>
            <a:ext cx="10972800" cy="365760"/>
          </a:xfrm>
          <a:prstGeom prst="rect">
            <a:avLst/>
          </a:prstGeom>
          <a:noFill/>
        </p:spPr>
        <p:txBody>
          <a:bodyPr wrap="square" lIns="0" rIns="0" tIns="0" bIns="0" anchor="t">
            <a:spAutoFit/>
          </a:bodyPr>
          <a:lstStyle/>
          <a:p>
            <a:pPr algn="l"/>
            <a:r>
              <a:rPr sz="1400" b="0">
                <a:solidFill>
                  <a:srgbClr val="94A3B8"/>
                </a:solidFill>
                <a:latin typeface="Calibri"/>
              </a:rPr>
              <a:t>Each one is a lever. Each one is now in her email draft.</a:t>
            </a:r>
          </a:p>
        </p:txBody>
      </p:sp>
      <p:sp>
        <p:nvSpPr>
          <p:cNvPr id="5" name="TextBox 4"/>
          <p:cNvSpPr txBox="1"/>
          <p:nvPr/>
        </p:nvSpPr>
        <p:spPr>
          <a:xfrm>
            <a:off x="457200" y="6400800"/>
            <a:ext cx="6400800" cy="274320"/>
          </a:xfrm>
          <a:prstGeom prst="rect">
            <a:avLst/>
          </a:prstGeom>
          <a:noFill/>
        </p:spPr>
        <p:txBody>
          <a:bodyPr wrap="square" lIns="0" rIns="0" tIns="0" bIns="0" anchor="t">
            <a:spAutoFit/>
          </a:bodyPr>
          <a:lstStyle/>
          <a:p>
            <a:pPr algn="l"/>
            <a:r>
              <a:rPr sz="1000" b="0">
                <a:solidFill>
                  <a:srgbClr val="64748B"/>
                </a:solidFill>
                <a:latin typeface="Calibri"/>
              </a:rPr>
              <a:t>OpenRAROC  •  See your credit through your banker's eyes</a:t>
            </a:r>
          </a:p>
        </p:txBody>
      </p:sp>
      <p:sp>
        <p:nvSpPr>
          <p:cNvPr id="6" name="TextBox 5"/>
          <p:cNvSpPr txBox="1"/>
          <p:nvPr/>
        </p:nvSpPr>
        <p:spPr>
          <a:xfrm>
            <a:off x="10058400" y="6400800"/>
            <a:ext cx="1828800" cy="274320"/>
          </a:xfrm>
          <a:prstGeom prst="rect">
            <a:avLst/>
          </a:prstGeom>
          <a:noFill/>
        </p:spPr>
        <p:txBody>
          <a:bodyPr wrap="square" lIns="0" rIns="0" tIns="0" bIns="0" anchor="t">
            <a:spAutoFit/>
          </a:bodyPr>
          <a:lstStyle/>
          <a:p>
            <a:pPr algn="r"/>
            <a:r>
              <a:rPr sz="1000" b="0">
                <a:solidFill>
                  <a:srgbClr val="64748B"/>
                </a:solidFill>
                <a:latin typeface="Calibri"/>
              </a:rPr>
              <a:t>7 / 12</a:t>
            </a:r>
          </a:p>
        </p:txBody>
      </p:sp>
      <p:sp>
        <p:nvSpPr>
          <p:cNvPr id="7" name="Rectangle 6"/>
          <p:cNvSpPr/>
          <p:nvPr/>
        </p:nvSpPr>
        <p:spPr>
          <a:xfrm>
            <a:off x="457200" y="1920240"/>
            <a:ext cx="11338560" cy="4114800"/>
          </a:xfrm>
          <a:prstGeom prst="rect">
            <a:avLst/>
          </a:prstGeom>
          <a:solidFill>
            <a:srgbClr val="1E293B"/>
          </a:solidFill>
          <a:ln w="9525">
            <a:solidFill>
              <a:srgbClr val="4755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2103120"/>
            <a:ext cx="10881360" cy="365760"/>
          </a:xfrm>
          <a:prstGeom prst="rect">
            <a:avLst/>
          </a:prstGeom>
          <a:noFill/>
        </p:spPr>
        <p:txBody>
          <a:bodyPr wrap="square" lIns="0" rIns="0" tIns="0" bIns="0" anchor="t">
            <a:spAutoFit/>
          </a:bodyPr>
          <a:lstStyle/>
          <a:p>
            <a:pPr algn="l"/>
            <a:r>
              <a:rPr sz="1400" b="1">
                <a:solidFill>
                  <a:srgbClr val="38BDF8"/>
                </a:solidFill>
                <a:latin typeface="Calibri"/>
              </a:rPr>
              <a:t>What Sabine sends to her RM next week</a:t>
            </a:r>
          </a:p>
        </p:txBody>
      </p:sp>
      <p:sp>
        <p:nvSpPr>
          <p:cNvPr id="9" name="TextBox 8"/>
          <p:cNvSpPr txBox="1"/>
          <p:nvPr/>
        </p:nvSpPr>
        <p:spPr>
          <a:xfrm>
            <a:off x="685800" y="2560320"/>
            <a:ext cx="10881360" cy="3291840"/>
          </a:xfrm>
          <a:prstGeom prst="rect">
            <a:avLst/>
          </a:prstGeom>
          <a:noFill/>
        </p:spPr>
        <p:txBody>
          <a:bodyPr wrap="square" lIns="0" rIns="0" tIns="0" bIns="0">
            <a:spAutoFit/>
          </a:bodyPr>
          <a:lstStyle/>
          <a:p>
            <a:pPr>
              <a:lnSpc>
                <a:spcPct val="125000"/>
              </a:lnSpc>
              <a:spcAft>
                <a:spcPts val="400"/>
              </a:spcAft>
            </a:pPr>
            <a:r>
              <a:rPr sz="1200">
                <a:solidFill>
                  <a:srgbClr val="E2E8F0"/>
                </a:solidFill>
                <a:latin typeface="Calibri"/>
              </a:rPr>
              <a:t>•  "Your RAROC on this deal is 12.5%. Your group hurdle is 12. We agreed at the top of your range — let's revisit."</a:t>
            </a:r>
          </a:p>
          <a:p>
            <a:pPr>
              <a:lnSpc>
                <a:spcPct val="125000"/>
              </a:lnSpc>
              <a:spcAft>
                <a:spcPts val="400"/>
              </a:spcAft>
            </a:pPr>
            <a:r>
              <a:rPr sz="1200">
                <a:solidFill>
                  <a:srgbClr val="E2E8F0"/>
                </a:solidFill>
                <a:latin typeface="Calibri"/>
              </a:rPr>
              <a:t>•  </a:t>
            </a:r>
          </a:p>
          <a:p>
            <a:pPr>
              <a:lnSpc>
                <a:spcPct val="125000"/>
              </a:lnSpc>
              <a:spcAft>
                <a:spcPts val="400"/>
              </a:spcAft>
            </a:pPr>
            <a:r>
              <a:rPr sz="1200">
                <a:solidFill>
                  <a:srgbClr val="E2E8F0"/>
                </a:solidFill>
                <a:latin typeface="Calibri"/>
              </a:rPr>
              <a:t>•  "You priced the parent guarantee in the LGD, which is correct. But did you also adjust the maturity-band? My read is no."</a:t>
            </a:r>
          </a:p>
          <a:p>
            <a:pPr>
              <a:lnSpc>
                <a:spcPct val="125000"/>
              </a:lnSpc>
              <a:spcAft>
                <a:spcPts val="400"/>
              </a:spcAft>
            </a:pPr>
            <a:r>
              <a:rPr sz="1200">
                <a:solidFill>
                  <a:srgbClr val="E2E8F0"/>
                </a:solidFill>
                <a:latin typeface="Calibri"/>
              </a:rPr>
              <a:t>•  </a:t>
            </a:r>
          </a:p>
          <a:p>
            <a:pPr>
              <a:lnSpc>
                <a:spcPct val="125000"/>
              </a:lnSpc>
              <a:spcAft>
                <a:spcPts val="400"/>
              </a:spcAft>
            </a:pPr>
            <a:r>
              <a:rPr sz="1200">
                <a:solidFill>
                  <a:srgbClr val="E2E8F0"/>
                </a:solidFill>
                <a:latin typeface="Calibri"/>
              </a:rPr>
              <a:t>•  "I see your Q3 disclosure has the output floor at 55%. If your internal model has not yet caught up, my pricing is structurally too high."</a:t>
            </a:r>
          </a:p>
          <a:p>
            <a:pPr>
              <a:lnSpc>
                <a:spcPct val="125000"/>
              </a:lnSpc>
              <a:spcAft>
                <a:spcPts val="400"/>
              </a:spcAft>
            </a:pPr>
            <a:r>
              <a:rPr sz="1200">
                <a:solidFill>
                  <a:srgbClr val="E2E8F0"/>
                </a:solidFill>
                <a:latin typeface="Calibri"/>
              </a:rPr>
              <a:t>•  </a:t>
            </a:r>
          </a:p>
          <a:p>
            <a:pPr>
              <a:lnSpc>
                <a:spcPct val="125000"/>
              </a:lnSpc>
              <a:spcAft>
                <a:spcPts val="400"/>
              </a:spcAft>
            </a:pPr>
            <a:r>
              <a:rPr sz="1200">
                <a:solidFill>
                  <a:srgbClr val="E2E8F0"/>
                </a:solidFill>
                <a:latin typeface="Calibri"/>
              </a:rPr>
              <a:t>•  "BNP CTI is 62%. ING runs 55%. I am paying for ten points of inefficiency that has nothing to do with my credit."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ounded Rectangle 1"/>
          <p:cNvSpPr/>
          <p:nvPr/>
        </p:nvSpPr>
        <p:spPr>
          <a:xfrm>
            <a:off x="457200" y="365760"/>
            <a:ext cx="1645920" cy="292608"/>
          </a:xfrm>
          <a:prstGeom prst="roundRect">
            <a:avLst>
              <a:gd name="adj" fmla="val 50000"/>
            </a:avLst>
          </a:prstGeom>
          <a:solidFill>
            <a:srgbClr val="1E293B"/>
          </a:solidFill>
          <a:ln w="9525">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38BDF8"/>
                </a:solidFill>
                <a:latin typeface="Calibri"/>
              </a:rPr>
              <a:t>CHAPTER 2 — HOW YOUR BANK RANKS</a:t>
            </a:r>
          </a:p>
        </p:txBody>
      </p:sp>
      <p:sp>
        <p:nvSpPr>
          <p:cNvPr id="3" name="TextBox 2"/>
          <p:cNvSpPr txBox="1"/>
          <p:nvPr/>
        </p:nvSpPr>
        <p:spPr>
          <a:xfrm>
            <a:off x="457200" y="777240"/>
            <a:ext cx="10972800" cy="640080"/>
          </a:xfrm>
          <a:prstGeom prst="rect">
            <a:avLst/>
          </a:prstGeom>
          <a:noFill/>
        </p:spPr>
        <p:txBody>
          <a:bodyPr wrap="square" lIns="0" rIns="0" tIns="0" bIns="0" anchor="t">
            <a:spAutoFit/>
          </a:bodyPr>
          <a:lstStyle/>
          <a:p>
            <a:pPr algn="l"/>
            <a:r>
              <a:rPr sz="3000" b="1">
                <a:solidFill>
                  <a:srgbClr val="FFFFFF"/>
                </a:solidFill>
                <a:latin typeface="Calibri"/>
              </a:rPr>
              <a:t>Same deal. Eight banks. Five of them already lend to Nordwind.</a:t>
            </a:r>
          </a:p>
        </p:txBody>
      </p:sp>
      <p:sp>
        <p:nvSpPr>
          <p:cNvPr id="4" name="TextBox 3"/>
          <p:cNvSpPr txBox="1"/>
          <p:nvPr/>
        </p:nvSpPr>
        <p:spPr>
          <a:xfrm>
            <a:off x="457200" y="1371600"/>
            <a:ext cx="10972800" cy="365760"/>
          </a:xfrm>
          <a:prstGeom prst="rect">
            <a:avLst/>
          </a:prstGeom>
          <a:noFill/>
        </p:spPr>
        <p:txBody>
          <a:bodyPr wrap="square" lIns="0" rIns="0" tIns="0" bIns="0" anchor="t">
            <a:spAutoFit/>
          </a:bodyPr>
          <a:lstStyle/>
          <a:p>
            <a:pPr algn="l"/>
            <a:r>
              <a:rPr sz="1400" b="0">
                <a:solidFill>
                  <a:srgbClr val="94A3B8"/>
                </a:solidFill>
                <a:latin typeface="Calibri"/>
              </a:rPr>
              <a:t>Real numbers — engine output as of today.</a:t>
            </a:r>
          </a:p>
        </p:txBody>
      </p:sp>
      <p:sp>
        <p:nvSpPr>
          <p:cNvPr id="5" name="TextBox 4"/>
          <p:cNvSpPr txBox="1"/>
          <p:nvPr/>
        </p:nvSpPr>
        <p:spPr>
          <a:xfrm>
            <a:off x="457200" y="6400800"/>
            <a:ext cx="6400800" cy="274320"/>
          </a:xfrm>
          <a:prstGeom prst="rect">
            <a:avLst/>
          </a:prstGeom>
          <a:noFill/>
        </p:spPr>
        <p:txBody>
          <a:bodyPr wrap="square" lIns="0" rIns="0" tIns="0" bIns="0" anchor="t">
            <a:spAutoFit/>
          </a:bodyPr>
          <a:lstStyle/>
          <a:p>
            <a:pPr algn="l"/>
            <a:r>
              <a:rPr sz="1000" b="0">
                <a:solidFill>
                  <a:srgbClr val="64748B"/>
                </a:solidFill>
                <a:latin typeface="Calibri"/>
              </a:rPr>
              <a:t>OpenRAROC  •  See your credit through your banker's eyes</a:t>
            </a:r>
          </a:p>
        </p:txBody>
      </p:sp>
      <p:sp>
        <p:nvSpPr>
          <p:cNvPr id="6" name="TextBox 5"/>
          <p:cNvSpPr txBox="1"/>
          <p:nvPr/>
        </p:nvSpPr>
        <p:spPr>
          <a:xfrm>
            <a:off x="10058400" y="6400800"/>
            <a:ext cx="1828800" cy="274320"/>
          </a:xfrm>
          <a:prstGeom prst="rect">
            <a:avLst/>
          </a:prstGeom>
          <a:noFill/>
        </p:spPr>
        <p:txBody>
          <a:bodyPr wrap="square" lIns="0" rIns="0" tIns="0" bIns="0" anchor="t">
            <a:spAutoFit/>
          </a:bodyPr>
          <a:lstStyle/>
          <a:p>
            <a:pPr algn="r"/>
            <a:r>
              <a:rPr sz="1000" b="0">
                <a:solidFill>
                  <a:srgbClr val="64748B"/>
                </a:solidFill>
                <a:latin typeface="Calibri"/>
              </a:rPr>
              <a:t>8 / 12</a:t>
            </a:r>
          </a:p>
        </p:txBody>
      </p:sp>
      <p:graphicFrame>
        <p:nvGraphicFramePr>
          <p:cNvPr id="7" name="Table 6"/>
          <p:cNvGraphicFramePr>
            <a:graphicFrameLocks noGrp="1"/>
          </p:cNvGraphicFramePr>
          <p:nvPr/>
        </p:nvGraphicFramePr>
        <p:xfrm>
          <a:off x="457200" y="1920240"/>
          <a:ext cx="11338560" cy="3657600"/>
        </p:xfrm>
        <a:graphic>
          <a:graphicData uri="http://schemas.openxmlformats.org/drawingml/2006/table">
            <a:tbl>
              <a:tblPr firstRow="1" bandRow="1">
                <a:tableStyleId>{5C22544A-7EE6-4342-B048-85BDC9FD1C3A}</a:tableStyleId>
              </a:tblPr>
              <a:tblGrid>
                <a:gridCol w="2194560"/>
                <a:gridCol w="1828800"/>
                <a:gridCol w="1097280"/>
                <a:gridCol w="1097280"/>
                <a:gridCol w="2560320"/>
                <a:gridCol w="2560320"/>
              </a:tblGrid>
              <a:tr h="406400">
                <a:tc>
                  <a:txBody>
                    <a:bodyPr wrap="square"/>
                    <a:lstStyle/>
                    <a:p>
                      <a:pPr algn="l"/>
                      <a:r>
                        <a:rPr sz="1000" b="1">
                          <a:solidFill>
                            <a:srgbClr val="38BDF8"/>
                          </a:solidFill>
                          <a:latin typeface="Calibri"/>
                        </a:rPr>
                        <a:t>Bank</a:t>
                      </a:r>
                    </a:p>
                  </a:txBody>
                  <a:tcPr marL="45000" marR="45000" marT="30000" marB="30000">
                    <a:solidFill>
                      <a:srgbClr val="334155"/>
                    </a:solidFill>
                  </a:tcPr>
                </a:tc>
                <a:tc>
                  <a:txBody>
                    <a:bodyPr wrap="square"/>
                    <a:lstStyle/>
                    <a:p>
                      <a:pPr algn="l"/>
                      <a:r>
                        <a:rPr sz="1000" b="1">
                          <a:solidFill>
                            <a:srgbClr val="38BDF8"/>
                          </a:solidFill>
                          <a:latin typeface="Calibri"/>
                        </a:rPr>
                        <a:t>Country</a:t>
                      </a:r>
                    </a:p>
                  </a:txBody>
                  <a:tcPr marL="45000" marR="45000" marT="30000" marB="30000">
                    <a:solidFill>
                      <a:srgbClr val="334155"/>
                    </a:solidFill>
                  </a:tcPr>
                </a:tc>
                <a:tc>
                  <a:txBody>
                    <a:bodyPr wrap="square"/>
                    <a:lstStyle/>
                    <a:p>
                      <a:pPr algn="r"/>
                      <a:r>
                        <a:rPr sz="1000" b="1">
                          <a:solidFill>
                            <a:srgbClr val="38BDF8"/>
                          </a:solidFill>
                          <a:latin typeface="Calibri"/>
                        </a:rPr>
                        <a:t>CTI</a:t>
                      </a:r>
                    </a:p>
                  </a:txBody>
                  <a:tcPr marL="45000" marR="45000" marT="30000" marB="30000">
                    <a:solidFill>
                      <a:srgbClr val="334155"/>
                    </a:solidFill>
                  </a:tcPr>
                </a:tc>
                <a:tc>
                  <a:txBody>
                    <a:bodyPr wrap="square"/>
                    <a:lstStyle/>
                    <a:p>
                      <a:pPr algn="r"/>
                      <a:r>
                        <a:rPr sz="1000" b="1">
                          <a:solidFill>
                            <a:srgbClr val="38BDF8"/>
                          </a:solidFill>
                          <a:latin typeface="Calibri"/>
                        </a:rPr>
                        <a:t>Tax</a:t>
                      </a:r>
                    </a:p>
                  </a:txBody>
                  <a:tcPr marL="45000" marR="45000" marT="30000" marB="30000">
                    <a:solidFill>
                      <a:srgbClr val="334155"/>
                    </a:solidFill>
                  </a:tcPr>
                </a:tc>
                <a:tc>
                  <a:txBody>
                    <a:bodyPr wrap="square"/>
                    <a:lstStyle/>
                    <a:p>
                      <a:pPr algn="r"/>
                      <a:r>
                        <a:rPr sz="1000" b="1">
                          <a:solidFill>
                            <a:srgbClr val="38BDF8"/>
                          </a:solidFill>
                          <a:latin typeface="Calibri"/>
                        </a:rPr>
                        <a:t>RAROC at 150 bp</a:t>
                      </a:r>
                    </a:p>
                  </a:txBody>
                  <a:tcPr marL="45000" marR="45000" marT="30000" marB="30000">
                    <a:solidFill>
                      <a:srgbClr val="334155"/>
                    </a:solidFill>
                  </a:tcPr>
                </a:tc>
                <a:tc>
                  <a:txBody>
                    <a:bodyPr wrap="square"/>
                    <a:lstStyle/>
                    <a:p>
                      <a:pPr algn="r"/>
                      <a:r>
                        <a:rPr sz="1000" b="1">
                          <a:solidFill>
                            <a:srgbClr val="38BDF8"/>
                          </a:solidFill>
                          <a:latin typeface="Calibri"/>
                        </a:rPr>
                        <a:t>Min spread to hit 12%</a:t>
                      </a:r>
                    </a:p>
                  </a:txBody>
                  <a:tcPr marL="45000" marR="45000" marT="30000" marB="30000">
                    <a:solidFill>
                      <a:srgbClr val="334155"/>
                    </a:solidFill>
                  </a:tcPr>
                </a:tc>
              </a:tr>
              <a:tr h="406400">
                <a:tc>
                  <a:txBody>
                    <a:bodyPr wrap="square"/>
                    <a:lstStyle/>
                    <a:p>
                      <a:pPr algn="l"/>
                      <a:r>
                        <a:rPr sz="1100" b="0">
                          <a:solidFill>
                            <a:srgbClr val="E2E8F0"/>
                          </a:solidFill>
                          <a:latin typeface="Calibri"/>
                        </a:rPr>
                        <a:t>JP Morgan</a:t>
                      </a:r>
                    </a:p>
                  </a:txBody>
                  <a:tcPr marL="45000" marR="45000" marT="30000" marB="30000">
                    <a:solidFill>
                      <a:srgbClr val="1E293B"/>
                    </a:solidFill>
                  </a:tcPr>
                </a:tc>
                <a:tc>
                  <a:txBody>
                    <a:bodyPr wrap="square"/>
                    <a:lstStyle/>
                    <a:p>
                      <a:pPr algn="l"/>
                      <a:r>
                        <a:rPr sz="1100" b="0">
                          <a:solidFill>
                            <a:srgbClr val="E2E8F0"/>
                          </a:solidFill>
                          <a:latin typeface="Calibri"/>
                        </a:rPr>
                        <a:t>United States</a:t>
                      </a:r>
                    </a:p>
                  </a:txBody>
                  <a:tcPr marL="45000" marR="45000" marT="30000" marB="30000">
                    <a:solidFill>
                      <a:srgbClr val="1E293B"/>
                    </a:solidFill>
                  </a:tcPr>
                </a:tc>
                <a:tc>
                  <a:txBody>
                    <a:bodyPr wrap="square"/>
                    <a:lstStyle/>
                    <a:p>
                      <a:pPr algn="r"/>
                      <a:r>
                        <a:rPr sz="1100" b="0">
                          <a:solidFill>
                            <a:srgbClr val="E2E8F0"/>
                          </a:solidFill>
                          <a:latin typeface="Calibri"/>
                        </a:rPr>
                        <a:t>52 %</a:t>
                      </a:r>
                    </a:p>
                  </a:txBody>
                  <a:tcPr marL="45000" marR="45000" marT="30000" marB="30000">
                    <a:solidFill>
                      <a:srgbClr val="1E293B"/>
                    </a:solidFill>
                  </a:tcPr>
                </a:tc>
                <a:tc>
                  <a:txBody>
                    <a:bodyPr wrap="square"/>
                    <a:lstStyle/>
                    <a:p>
                      <a:pPr algn="r"/>
                      <a:r>
                        <a:rPr sz="1100" b="0">
                          <a:solidFill>
                            <a:srgbClr val="E2E8F0"/>
                          </a:solidFill>
                          <a:latin typeface="Calibri"/>
                        </a:rPr>
                        <a:t>21 %</a:t>
                      </a:r>
                    </a:p>
                  </a:txBody>
                  <a:tcPr marL="45000" marR="45000" marT="30000" marB="30000">
                    <a:solidFill>
                      <a:srgbClr val="1E293B"/>
                    </a:solidFill>
                  </a:tcPr>
                </a:tc>
                <a:tc>
                  <a:txBody>
                    <a:bodyPr wrap="square"/>
                    <a:lstStyle/>
                    <a:p>
                      <a:pPr algn="r"/>
                      <a:r>
                        <a:rPr sz="1100" b="0">
                          <a:solidFill>
                            <a:srgbClr val="E2E8F0"/>
                          </a:solidFill>
                          <a:latin typeface="Calibri"/>
                        </a:rPr>
                        <a:t>14.26 %</a:t>
                      </a:r>
                    </a:p>
                  </a:txBody>
                  <a:tcPr marL="45000" marR="45000" marT="30000" marB="30000">
                    <a:solidFill>
                      <a:srgbClr val="1E293B"/>
                    </a:solidFill>
                  </a:tcPr>
                </a:tc>
                <a:tc>
                  <a:txBody>
                    <a:bodyPr wrap="square"/>
                    <a:lstStyle/>
                    <a:p>
                      <a:pPr algn="r"/>
                      <a:r>
                        <a:rPr sz="1100" b="0">
                          <a:solidFill>
                            <a:srgbClr val="E2E8F0"/>
                          </a:solidFill>
                          <a:latin typeface="Calibri"/>
                        </a:rPr>
                        <a:t>123 bp</a:t>
                      </a:r>
                    </a:p>
                  </a:txBody>
                  <a:tcPr marL="45000" marR="45000" marT="30000" marB="30000">
                    <a:solidFill>
                      <a:srgbClr val="1E293B"/>
                    </a:solidFill>
                  </a:tcPr>
                </a:tc>
              </a:tr>
              <a:tr h="406400">
                <a:tc>
                  <a:txBody>
                    <a:bodyPr wrap="square"/>
                    <a:lstStyle/>
                    <a:p>
                      <a:pPr algn="l"/>
                      <a:r>
                        <a:rPr sz="1100" b="0">
                          <a:solidFill>
                            <a:srgbClr val="E2E8F0"/>
                          </a:solidFill>
                          <a:latin typeface="Calibri"/>
                        </a:rPr>
                        <a:t>Crédit Agricole</a:t>
                      </a:r>
                    </a:p>
                  </a:txBody>
                  <a:tcPr marL="45000" marR="45000" marT="30000" marB="30000">
                    <a:solidFill>
                      <a:srgbClr val="1E293B"/>
                    </a:solidFill>
                  </a:tcPr>
                </a:tc>
                <a:tc>
                  <a:txBody>
                    <a:bodyPr wrap="square"/>
                    <a:lstStyle/>
                    <a:p>
                      <a:pPr algn="l"/>
                      <a:r>
                        <a:rPr sz="1100" b="0">
                          <a:solidFill>
                            <a:srgbClr val="E2E8F0"/>
                          </a:solidFill>
                          <a:latin typeface="Calibri"/>
                        </a:rPr>
                        <a:t>France</a:t>
                      </a:r>
                    </a:p>
                  </a:txBody>
                  <a:tcPr marL="45000" marR="45000" marT="30000" marB="30000">
                    <a:solidFill>
                      <a:srgbClr val="1E293B"/>
                    </a:solidFill>
                  </a:tcPr>
                </a:tc>
                <a:tc>
                  <a:txBody>
                    <a:bodyPr wrap="square"/>
                    <a:lstStyle/>
                    <a:p>
                      <a:pPr algn="r"/>
                      <a:r>
                        <a:rPr sz="1100" b="0">
                          <a:solidFill>
                            <a:srgbClr val="E2E8F0"/>
                          </a:solidFill>
                          <a:latin typeface="Calibri"/>
                        </a:rPr>
                        <a:t>56 %</a:t>
                      </a:r>
                    </a:p>
                  </a:txBody>
                  <a:tcPr marL="45000" marR="45000" marT="30000" marB="30000">
                    <a:solidFill>
                      <a:srgbClr val="1E293B"/>
                    </a:solidFill>
                  </a:tcPr>
                </a:tc>
                <a:tc>
                  <a:txBody>
                    <a:bodyPr wrap="square"/>
                    <a:lstStyle/>
                    <a:p>
                      <a:pPr algn="r"/>
                      <a:r>
                        <a:rPr sz="1100" b="0">
                          <a:solidFill>
                            <a:srgbClr val="E2E8F0"/>
                          </a:solidFill>
                          <a:latin typeface="Calibri"/>
                        </a:rPr>
                        <a:t>24 %</a:t>
                      </a:r>
                    </a:p>
                  </a:txBody>
                  <a:tcPr marL="45000" marR="45000" marT="30000" marB="30000">
                    <a:solidFill>
                      <a:srgbClr val="1E293B"/>
                    </a:solidFill>
                  </a:tcPr>
                </a:tc>
                <a:tc>
                  <a:txBody>
                    <a:bodyPr wrap="square"/>
                    <a:lstStyle/>
                    <a:p>
                      <a:pPr algn="r"/>
                      <a:r>
                        <a:rPr sz="1100" b="0">
                          <a:solidFill>
                            <a:srgbClr val="E2E8F0"/>
                          </a:solidFill>
                          <a:latin typeface="Calibri"/>
                        </a:rPr>
                        <a:t>13.43 %</a:t>
                      </a:r>
                    </a:p>
                  </a:txBody>
                  <a:tcPr marL="45000" marR="45000" marT="30000" marB="30000">
                    <a:solidFill>
                      <a:srgbClr val="1E293B"/>
                    </a:solidFill>
                  </a:tcPr>
                </a:tc>
                <a:tc>
                  <a:txBody>
                    <a:bodyPr wrap="square"/>
                    <a:lstStyle/>
                    <a:p>
                      <a:pPr algn="r"/>
                      <a:r>
                        <a:rPr sz="1100" b="0">
                          <a:solidFill>
                            <a:srgbClr val="E2E8F0"/>
                          </a:solidFill>
                          <a:latin typeface="Calibri"/>
                        </a:rPr>
                        <a:t>132 bp</a:t>
                      </a:r>
                    </a:p>
                  </a:txBody>
                  <a:tcPr marL="45000" marR="45000" marT="30000" marB="30000">
                    <a:solidFill>
                      <a:srgbClr val="1E293B"/>
                    </a:solidFill>
                  </a:tcPr>
                </a:tc>
              </a:tr>
              <a:tr h="406400">
                <a:tc>
                  <a:txBody>
                    <a:bodyPr wrap="square"/>
                    <a:lstStyle/>
                    <a:p>
                      <a:pPr algn="l"/>
                      <a:r>
                        <a:rPr sz="1100" b="0">
                          <a:solidFill>
                            <a:srgbClr val="E2E8F0"/>
                          </a:solidFill>
                          <a:latin typeface="Calibri"/>
                        </a:rPr>
                        <a:t>Barclays</a:t>
                      </a:r>
                    </a:p>
                  </a:txBody>
                  <a:tcPr marL="45000" marR="45000" marT="30000" marB="30000">
                    <a:solidFill>
                      <a:srgbClr val="1E293B"/>
                    </a:solidFill>
                  </a:tcPr>
                </a:tc>
                <a:tc>
                  <a:txBody>
                    <a:bodyPr wrap="square"/>
                    <a:lstStyle/>
                    <a:p>
                      <a:pPr algn="l"/>
                      <a:r>
                        <a:rPr sz="1100" b="0">
                          <a:solidFill>
                            <a:srgbClr val="E2E8F0"/>
                          </a:solidFill>
                          <a:latin typeface="Calibri"/>
                        </a:rPr>
                        <a:t>United Kingdom</a:t>
                      </a:r>
                    </a:p>
                  </a:txBody>
                  <a:tcPr marL="45000" marR="45000" marT="30000" marB="30000">
                    <a:solidFill>
                      <a:srgbClr val="1E293B"/>
                    </a:solidFill>
                  </a:tcPr>
                </a:tc>
                <a:tc>
                  <a:txBody>
                    <a:bodyPr wrap="square"/>
                    <a:lstStyle/>
                    <a:p>
                      <a:pPr algn="r"/>
                      <a:r>
                        <a:rPr sz="1100" b="0">
                          <a:solidFill>
                            <a:srgbClr val="E2E8F0"/>
                          </a:solidFill>
                          <a:latin typeface="Calibri"/>
                        </a:rPr>
                        <a:t>62 %</a:t>
                      </a:r>
                    </a:p>
                  </a:txBody>
                  <a:tcPr marL="45000" marR="45000" marT="30000" marB="30000">
                    <a:solidFill>
                      <a:srgbClr val="1E293B"/>
                    </a:solidFill>
                  </a:tcPr>
                </a:tc>
                <a:tc>
                  <a:txBody>
                    <a:bodyPr wrap="square"/>
                    <a:lstStyle/>
                    <a:p>
                      <a:pPr algn="r"/>
                      <a:r>
                        <a:rPr sz="1100" b="0">
                          <a:solidFill>
                            <a:srgbClr val="E2E8F0"/>
                          </a:solidFill>
                          <a:latin typeface="Calibri"/>
                        </a:rPr>
                        <a:t>22 %</a:t>
                      </a:r>
                    </a:p>
                  </a:txBody>
                  <a:tcPr marL="45000" marR="45000" marT="30000" marB="30000">
                    <a:solidFill>
                      <a:srgbClr val="1E293B"/>
                    </a:solidFill>
                  </a:tcPr>
                </a:tc>
                <a:tc>
                  <a:txBody>
                    <a:bodyPr wrap="square"/>
                    <a:lstStyle/>
                    <a:p>
                      <a:pPr algn="r"/>
                      <a:r>
                        <a:rPr sz="1100" b="0">
                          <a:solidFill>
                            <a:srgbClr val="E2E8F0"/>
                          </a:solidFill>
                          <a:latin typeface="Calibri"/>
                        </a:rPr>
                        <a:t>13.30 %</a:t>
                      </a:r>
                    </a:p>
                  </a:txBody>
                  <a:tcPr marL="45000" marR="45000" marT="30000" marB="30000">
                    <a:solidFill>
                      <a:srgbClr val="1E293B"/>
                    </a:solidFill>
                  </a:tcPr>
                </a:tc>
                <a:tc>
                  <a:txBody>
                    <a:bodyPr wrap="square"/>
                    <a:lstStyle/>
                    <a:p>
                      <a:pPr algn="r"/>
                      <a:r>
                        <a:rPr sz="1100" b="0">
                          <a:solidFill>
                            <a:srgbClr val="E2E8F0"/>
                          </a:solidFill>
                          <a:latin typeface="Calibri"/>
                        </a:rPr>
                        <a:t>134 bp</a:t>
                      </a:r>
                    </a:p>
                  </a:txBody>
                  <a:tcPr marL="45000" marR="45000" marT="30000" marB="30000">
                    <a:solidFill>
                      <a:srgbClr val="1E293B"/>
                    </a:solidFill>
                  </a:tcPr>
                </a:tc>
              </a:tr>
              <a:tr h="406400">
                <a:tc>
                  <a:txBody>
                    <a:bodyPr wrap="square"/>
                    <a:lstStyle/>
                    <a:p>
                      <a:pPr algn="l"/>
                      <a:r>
                        <a:rPr sz="1100" b="0">
                          <a:solidFill>
                            <a:srgbClr val="E2E8F0"/>
                          </a:solidFill>
                          <a:latin typeface="Calibri"/>
                        </a:rPr>
                        <a:t>HSBC</a:t>
                      </a:r>
                    </a:p>
                  </a:txBody>
                  <a:tcPr marL="45000" marR="45000" marT="30000" marB="30000">
                    <a:solidFill>
                      <a:srgbClr val="1E293B"/>
                    </a:solidFill>
                  </a:tcPr>
                </a:tc>
                <a:tc>
                  <a:txBody>
                    <a:bodyPr wrap="square"/>
                    <a:lstStyle/>
                    <a:p>
                      <a:pPr algn="l"/>
                      <a:r>
                        <a:rPr sz="1100" b="0">
                          <a:solidFill>
                            <a:srgbClr val="E2E8F0"/>
                          </a:solidFill>
                          <a:latin typeface="Calibri"/>
                        </a:rPr>
                        <a:t>United Kingdom</a:t>
                      </a:r>
                    </a:p>
                  </a:txBody>
                  <a:tcPr marL="45000" marR="45000" marT="30000" marB="30000">
                    <a:solidFill>
                      <a:srgbClr val="1E293B"/>
                    </a:solidFill>
                  </a:tcPr>
                </a:tc>
                <a:tc>
                  <a:txBody>
                    <a:bodyPr wrap="square"/>
                    <a:lstStyle/>
                    <a:p>
                      <a:pPr algn="r"/>
                      <a:r>
                        <a:rPr sz="1100" b="0">
                          <a:solidFill>
                            <a:srgbClr val="E2E8F0"/>
                          </a:solidFill>
                          <a:latin typeface="Calibri"/>
                        </a:rPr>
                        <a:t>53 %</a:t>
                      </a:r>
                    </a:p>
                  </a:txBody>
                  <a:tcPr marL="45000" marR="45000" marT="30000" marB="30000">
                    <a:solidFill>
                      <a:srgbClr val="1E293B"/>
                    </a:solidFill>
                  </a:tcPr>
                </a:tc>
                <a:tc>
                  <a:txBody>
                    <a:bodyPr wrap="square"/>
                    <a:lstStyle/>
                    <a:p>
                      <a:pPr algn="r"/>
                      <a:r>
                        <a:rPr sz="1100" b="0">
                          <a:solidFill>
                            <a:srgbClr val="E2E8F0"/>
                          </a:solidFill>
                          <a:latin typeface="Calibri"/>
                        </a:rPr>
                        <a:t>23 %</a:t>
                      </a:r>
                    </a:p>
                  </a:txBody>
                  <a:tcPr marL="45000" marR="45000" marT="30000" marB="30000">
                    <a:solidFill>
                      <a:srgbClr val="1E293B"/>
                    </a:solidFill>
                  </a:tcPr>
                </a:tc>
                <a:tc>
                  <a:txBody>
                    <a:bodyPr wrap="square"/>
                    <a:lstStyle/>
                    <a:p>
                      <a:pPr algn="r"/>
                      <a:r>
                        <a:rPr sz="1100" b="0">
                          <a:solidFill>
                            <a:srgbClr val="E2E8F0"/>
                          </a:solidFill>
                          <a:latin typeface="Calibri"/>
                        </a:rPr>
                        <a:t>13.12 %</a:t>
                      </a:r>
                    </a:p>
                  </a:txBody>
                  <a:tcPr marL="45000" marR="45000" marT="30000" marB="30000">
                    <a:solidFill>
                      <a:srgbClr val="1E293B"/>
                    </a:solidFill>
                  </a:tcPr>
                </a:tc>
                <a:tc>
                  <a:txBody>
                    <a:bodyPr wrap="square"/>
                    <a:lstStyle/>
                    <a:p>
                      <a:pPr algn="r"/>
                      <a:r>
                        <a:rPr sz="1100" b="0">
                          <a:solidFill>
                            <a:srgbClr val="E2E8F0"/>
                          </a:solidFill>
                          <a:latin typeface="Calibri"/>
                        </a:rPr>
                        <a:t>136 bp</a:t>
                      </a:r>
                    </a:p>
                  </a:txBody>
                  <a:tcPr marL="45000" marR="45000" marT="30000" marB="30000">
                    <a:solidFill>
                      <a:srgbClr val="1E293B"/>
                    </a:solidFill>
                  </a:tcPr>
                </a:tc>
              </a:tr>
              <a:tr h="406400">
                <a:tc>
                  <a:txBody>
                    <a:bodyPr wrap="square"/>
                    <a:lstStyle/>
                    <a:p>
                      <a:pPr algn="l"/>
                      <a:r>
                        <a:rPr sz="1100" b="0">
                          <a:solidFill>
                            <a:srgbClr val="E2E8F0"/>
                          </a:solidFill>
                          <a:latin typeface="Calibri"/>
                        </a:rPr>
                        <a:t>Société Générale</a:t>
                      </a:r>
                    </a:p>
                  </a:txBody>
                  <a:tcPr marL="45000" marR="45000" marT="30000" marB="30000">
                    <a:solidFill>
                      <a:srgbClr val="1E293B"/>
                    </a:solidFill>
                  </a:tcPr>
                </a:tc>
                <a:tc>
                  <a:txBody>
                    <a:bodyPr wrap="square"/>
                    <a:lstStyle/>
                    <a:p>
                      <a:pPr algn="l"/>
                      <a:r>
                        <a:rPr sz="1100" b="0">
                          <a:solidFill>
                            <a:srgbClr val="E2E8F0"/>
                          </a:solidFill>
                          <a:latin typeface="Calibri"/>
                        </a:rPr>
                        <a:t>France</a:t>
                      </a:r>
                    </a:p>
                  </a:txBody>
                  <a:tcPr marL="45000" marR="45000" marT="30000" marB="30000">
                    <a:solidFill>
                      <a:srgbClr val="1E293B"/>
                    </a:solidFill>
                  </a:tcPr>
                </a:tc>
                <a:tc>
                  <a:txBody>
                    <a:bodyPr wrap="square"/>
                    <a:lstStyle/>
                    <a:p>
                      <a:pPr algn="r"/>
                      <a:r>
                        <a:rPr sz="1100" b="0">
                          <a:solidFill>
                            <a:srgbClr val="E2E8F0"/>
                          </a:solidFill>
                          <a:latin typeface="Calibri"/>
                        </a:rPr>
                        <a:t>64 %</a:t>
                      </a:r>
                    </a:p>
                  </a:txBody>
                  <a:tcPr marL="45000" marR="45000" marT="30000" marB="30000">
                    <a:solidFill>
                      <a:srgbClr val="1E293B"/>
                    </a:solidFill>
                  </a:tcPr>
                </a:tc>
                <a:tc>
                  <a:txBody>
                    <a:bodyPr wrap="square"/>
                    <a:lstStyle/>
                    <a:p>
                      <a:pPr algn="r"/>
                      <a:r>
                        <a:rPr sz="1100" b="0">
                          <a:solidFill>
                            <a:srgbClr val="E2E8F0"/>
                          </a:solidFill>
                          <a:latin typeface="Calibri"/>
                        </a:rPr>
                        <a:t>20 %</a:t>
                      </a:r>
                    </a:p>
                  </a:txBody>
                  <a:tcPr marL="45000" marR="45000" marT="30000" marB="30000">
                    <a:solidFill>
                      <a:srgbClr val="1E293B"/>
                    </a:solidFill>
                  </a:tcPr>
                </a:tc>
                <a:tc>
                  <a:txBody>
                    <a:bodyPr wrap="square"/>
                    <a:lstStyle/>
                    <a:p>
                      <a:pPr algn="r"/>
                      <a:r>
                        <a:rPr sz="1100" b="0">
                          <a:solidFill>
                            <a:srgbClr val="E2E8F0"/>
                          </a:solidFill>
                          <a:latin typeface="Calibri"/>
                        </a:rPr>
                        <a:t>12.62 %</a:t>
                      </a:r>
                    </a:p>
                  </a:txBody>
                  <a:tcPr marL="45000" marR="45000" marT="30000" marB="30000">
                    <a:solidFill>
                      <a:srgbClr val="1E293B"/>
                    </a:solidFill>
                  </a:tcPr>
                </a:tc>
                <a:tc>
                  <a:txBody>
                    <a:bodyPr wrap="square"/>
                    <a:lstStyle/>
                    <a:p>
                      <a:pPr algn="r"/>
                      <a:r>
                        <a:rPr sz="1100" b="0">
                          <a:solidFill>
                            <a:srgbClr val="E2E8F0"/>
                          </a:solidFill>
                          <a:latin typeface="Calibri"/>
                        </a:rPr>
                        <a:t>143 bp</a:t>
                      </a:r>
                    </a:p>
                  </a:txBody>
                  <a:tcPr marL="45000" marR="45000" marT="30000" marB="30000">
                    <a:solidFill>
                      <a:srgbClr val="1E293B"/>
                    </a:solidFill>
                  </a:tcPr>
                </a:tc>
              </a:tr>
              <a:tr h="406400">
                <a:tc>
                  <a:txBody>
                    <a:bodyPr wrap="square"/>
                    <a:lstStyle/>
                    <a:p>
                      <a:pPr algn="l"/>
                      <a:r>
                        <a:rPr sz="1100" b="1">
                          <a:solidFill>
                            <a:srgbClr val="38BDF8"/>
                          </a:solidFill>
                          <a:latin typeface="Calibri"/>
                        </a:rPr>
                        <a:t>BNP Paribas</a:t>
                      </a:r>
                    </a:p>
                  </a:txBody>
                  <a:tcPr marL="45000" marR="45000" marT="30000" marB="30000">
                    <a:solidFill>
                      <a:srgbClr val="334155"/>
                    </a:solidFill>
                  </a:tcPr>
                </a:tc>
                <a:tc>
                  <a:txBody>
                    <a:bodyPr wrap="square"/>
                    <a:lstStyle/>
                    <a:p>
                      <a:pPr algn="l"/>
                      <a:r>
                        <a:rPr sz="1100" b="1">
                          <a:solidFill>
                            <a:srgbClr val="38BDF8"/>
                          </a:solidFill>
                          <a:latin typeface="Calibri"/>
                        </a:rPr>
                        <a:t>France</a:t>
                      </a:r>
                    </a:p>
                  </a:txBody>
                  <a:tcPr marL="45000" marR="45000" marT="30000" marB="30000">
                    <a:solidFill>
                      <a:srgbClr val="334155"/>
                    </a:solidFill>
                  </a:tcPr>
                </a:tc>
                <a:tc>
                  <a:txBody>
                    <a:bodyPr wrap="square"/>
                    <a:lstStyle/>
                    <a:p>
                      <a:pPr algn="r"/>
                      <a:r>
                        <a:rPr sz="1100" b="1">
                          <a:solidFill>
                            <a:srgbClr val="38BDF8"/>
                          </a:solidFill>
                          <a:latin typeface="Calibri"/>
                        </a:rPr>
                        <a:t>62 %</a:t>
                      </a:r>
                    </a:p>
                  </a:txBody>
                  <a:tcPr marL="45000" marR="45000" marT="30000" marB="30000">
                    <a:solidFill>
                      <a:srgbClr val="334155"/>
                    </a:solidFill>
                  </a:tcPr>
                </a:tc>
                <a:tc>
                  <a:txBody>
                    <a:bodyPr wrap="square"/>
                    <a:lstStyle/>
                    <a:p>
                      <a:pPr algn="r"/>
                      <a:r>
                        <a:rPr sz="1100" b="1">
                          <a:solidFill>
                            <a:srgbClr val="38BDF8"/>
                          </a:solidFill>
                          <a:latin typeface="Calibri"/>
                        </a:rPr>
                        <a:t>26 %</a:t>
                      </a:r>
                    </a:p>
                  </a:txBody>
                  <a:tcPr marL="45000" marR="45000" marT="30000" marB="30000">
                    <a:solidFill>
                      <a:srgbClr val="334155"/>
                    </a:solidFill>
                  </a:tcPr>
                </a:tc>
                <a:tc>
                  <a:txBody>
                    <a:bodyPr wrap="square"/>
                    <a:lstStyle/>
                    <a:p>
                      <a:pPr algn="r"/>
                      <a:r>
                        <a:rPr sz="1100" b="1">
                          <a:solidFill>
                            <a:srgbClr val="38BDF8"/>
                          </a:solidFill>
                          <a:latin typeface="Calibri"/>
                        </a:rPr>
                        <a:t>12.52 %</a:t>
                      </a:r>
                    </a:p>
                  </a:txBody>
                  <a:tcPr marL="45000" marR="45000" marT="30000" marB="30000">
                    <a:solidFill>
                      <a:srgbClr val="334155"/>
                    </a:solidFill>
                  </a:tcPr>
                </a:tc>
                <a:tc>
                  <a:txBody>
                    <a:bodyPr wrap="square"/>
                    <a:lstStyle/>
                    <a:p>
                      <a:pPr algn="r"/>
                      <a:r>
                        <a:rPr sz="1100" b="1">
                          <a:solidFill>
                            <a:srgbClr val="38BDF8"/>
                          </a:solidFill>
                          <a:latin typeface="Calibri"/>
                        </a:rPr>
                        <a:t>143 bp</a:t>
                      </a:r>
                    </a:p>
                  </a:txBody>
                  <a:tcPr marL="45000" marR="45000" marT="30000" marB="30000">
                    <a:solidFill>
                      <a:srgbClr val="334155"/>
                    </a:solidFill>
                  </a:tcPr>
                </a:tc>
              </a:tr>
              <a:tr h="406400">
                <a:tc>
                  <a:txBody>
                    <a:bodyPr wrap="square"/>
                    <a:lstStyle/>
                    <a:p>
                      <a:pPr algn="l"/>
                      <a:r>
                        <a:rPr sz="1100" b="0">
                          <a:solidFill>
                            <a:srgbClr val="E2E8F0"/>
                          </a:solidFill>
                          <a:latin typeface="Calibri"/>
                        </a:rPr>
                        <a:t>ING Group</a:t>
                      </a:r>
                    </a:p>
                  </a:txBody>
                  <a:tcPr marL="45000" marR="45000" marT="30000" marB="30000">
                    <a:solidFill>
                      <a:srgbClr val="1E293B"/>
                    </a:solidFill>
                  </a:tcPr>
                </a:tc>
                <a:tc>
                  <a:txBody>
                    <a:bodyPr wrap="square"/>
                    <a:lstStyle/>
                    <a:p>
                      <a:pPr algn="l"/>
                      <a:r>
                        <a:rPr sz="1100" b="0">
                          <a:solidFill>
                            <a:srgbClr val="E2E8F0"/>
                          </a:solidFill>
                          <a:latin typeface="Calibri"/>
                        </a:rPr>
                        <a:t>Netherlands</a:t>
                      </a:r>
                    </a:p>
                  </a:txBody>
                  <a:tcPr marL="45000" marR="45000" marT="30000" marB="30000">
                    <a:solidFill>
                      <a:srgbClr val="1E293B"/>
                    </a:solidFill>
                  </a:tcPr>
                </a:tc>
                <a:tc>
                  <a:txBody>
                    <a:bodyPr wrap="square"/>
                    <a:lstStyle/>
                    <a:p>
                      <a:pPr algn="r"/>
                      <a:r>
                        <a:rPr sz="1100" b="0">
                          <a:solidFill>
                            <a:srgbClr val="E2E8F0"/>
                          </a:solidFill>
                          <a:latin typeface="Calibri"/>
                        </a:rPr>
                        <a:t>55 %</a:t>
                      </a:r>
                    </a:p>
                  </a:txBody>
                  <a:tcPr marL="45000" marR="45000" marT="30000" marB="30000">
                    <a:solidFill>
                      <a:srgbClr val="1E293B"/>
                    </a:solidFill>
                  </a:tcPr>
                </a:tc>
                <a:tc>
                  <a:txBody>
                    <a:bodyPr wrap="square"/>
                    <a:lstStyle/>
                    <a:p>
                      <a:pPr algn="r"/>
                      <a:r>
                        <a:rPr sz="1100" b="0">
                          <a:solidFill>
                            <a:srgbClr val="E2E8F0"/>
                          </a:solidFill>
                          <a:latin typeface="Calibri"/>
                        </a:rPr>
                        <a:t>28 %</a:t>
                      </a:r>
                    </a:p>
                  </a:txBody>
                  <a:tcPr marL="45000" marR="45000" marT="30000" marB="30000">
                    <a:solidFill>
                      <a:srgbClr val="1E293B"/>
                    </a:solidFill>
                  </a:tcPr>
                </a:tc>
                <a:tc>
                  <a:txBody>
                    <a:bodyPr wrap="square"/>
                    <a:lstStyle/>
                    <a:p>
                      <a:pPr algn="r"/>
                      <a:r>
                        <a:rPr sz="1100" b="0">
                          <a:solidFill>
                            <a:srgbClr val="E2E8F0"/>
                          </a:solidFill>
                          <a:latin typeface="Calibri"/>
                        </a:rPr>
                        <a:t>12.25 %</a:t>
                      </a:r>
                    </a:p>
                  </a:txBody>
                  <a:tcPr marL="45000" marR="45000" marT="30000" marB="30000">
                    <a:solidFill>
                      <a:srgbClr val="1E293B"/>
                    </a:solidFill>
                  </a:tcPr>
                </a:tc>
                <a:tc>
                  <a:txBody>
                    <a:bodyPr wrap="square"/>
                    <a:lstStyle/>
                    <a:p>
                      <a:pPr algn="r"/>
                      <a:r>
                        <a:rPr sz="1100" b="0">
                          <a:solidFill>
                            <a:srgbClr val="E2E8F0"/>
                          </a:solidFill>
                          <a:latin typeface="Calibri"/>
                        </a:rPr>
                        <a:t>147 bp</a:t>
                      </a:r>
                    </a:p>
                  </a:txBody>
                  <a:tcPr marL="45000" marR="45000" marT="30000" marB="30000">
                    <a:solidFill>
                      <a:srgbClr val="1E293B"/>
                    </a:solidFill>
                  </a:tcPr>
                </a:tc>
              </a:tr>
              <a:tr h="406400">
                <a:tc>
                  <a:txBody>
                    <a:bodyPr wrap="square"/>
                    <a:lstStyle/>
                    <a:p>
                      <a:pPr algn="l"/>
                      <a:r>
                        <a:rPr sz="1100" b="0">
                          <a:solidFill>
                            <a:srgbClr val="E2E8F0"/>
                          </a:solidFill>
                          <a:latin typeface="Calibri"/>
                        </a:rPr>
                        <a:t>Deutsche Bank</a:t>
                      </a:r>
                    </a:p>
                  </a:txBody>
                  <a:tcPr marL="45000" marR="45000" marT="30000" marB="30000">
                    <a:solidFill>
                      <a:srgbClr val="1E293B"/>
                    </a:solidFill>
                  </a:tcPr>
                </a:tc>
                <a:tc>
                  <a:txBody>
                    <a:bodyPr wrap="square"/>
                    <a:lstStyle/>
                    <a:p>
                      <a:pPr algn="l"/>
                      <a:r>
                        <a:rPr sz="1100" b="0">
                          <a:solidFill>
                            <a:srgbClr val="E2E8F0"/>
                          </a:solidFill>
                          <a:latin typeface="Calibri"/>
                        </a:rPr>
                        <a:t>Germany</a:t>
                      </a:r>
                    </a:p>
                  </a:txBody>
                  <a:tcPr marL="45000" marR="45000" marT="30000" marB="30000">
                    <a:solidFill>
                      <a:srgbClr val="1E293B"/>
                    </a:solidFill>
                  </a:tcPr>
                </a:tc>
                <a:tc>
                  <a:txBody>
                    <a:bodyPr wrap="square"/>
                    <a:lstStyle/>
                    <a:p>
                      <a:pPr algn="r"/>
                      <a:r>
                        <a:rPr sz="1100" b="0">
                          <a:solidFill>
                            <a:srgbClr val="E2E8F0"/>
                          </a:solidFill>
                          <a:latin typeface="Calibri"/>
                        </a:rPr>
                        <a:t>64 %</a:t>
                      </a:r>
                    </a:p>
                  </a:txBody>
                  <a:tcPr marL="45000" marR="45000" marT="30000" marB="30000">
                    <a:solidFill>
                      <a:srgbClr val="1E293B"/>
                    </a:solidFill>
                  </a:tcPr>
                </a:tc>
                <a:tc>
                  <a:txBody>
                    <a:bodyPr wrap="square"/>
                    <a:lstStyle/>
                    <a:p>
                      <a:pPr algn="r"/>
                      <a:r>
                        <a:rPr sz="1100" b="0">
                          <a:solidFill>
                            <a:srgbClr val="E2E8F0"/>
                          </a:solidFill>
                          <a:latin typeface="Calibri"/>
                        </a:rPr>
                        <a:t>27 %</a:t>
                      </a:r>
                    </a:p>
                  </a:txBody>
                  <a:tcPr marL="45000" marR="45000" marT="30000" marB="30000">
                    <a:solidFill>
                      <a:srgbClr val="1E293B"/>
                    </a:solidFill>
                  </a:tcPr>
                </a:tc>
                <a:tc>
                  <a:txBody>
                    <a:bodyPr wrap="square"/>
                    <a:lstStyle/>
                    <a:p>
                      <a:pPr algn="r"/>
                      <a:r>
                        <a:rPr sz="1100" b="0">
                          <a:solidFill>
                            <a:srgbClr val="E2E8F0"/>
                          </a:solidFill>
                          <a:latin typeface="Calibri"/>
                        </a:rPr>
                        <a:t>11.56 %</a:t>
                      </a:r>
                    </a:p>
                  </a:txBody>
                  <a:tcPr marL="45000" marR="45000" marT="30000" marB="30000">
                    <a:solidFill>
                      <a:srgbClr val="1E293B"/>
                    </a:solidFill>
                  </a:tcPr>
                </a:tc>
                <a:tc>
                  <a:txBody>
                    <a:bodyPr wrap="square"/>
                    <a:lstStyle/>
                    <a:p>
                      <a:pPr algn="r"/>
                      <a:r>
                        <a:rPr sz="1100" b="0">
                          <a:solidFill>
                            <a:srgbClr val="E2E8F0"/>
                          </a:solidFill>
                          <a:latin typeface="Calibri"/>
                        </a:rPr>
                        <a:t>156 bp</a:t>
                      </a:r>
                    </a:p>
                  </a:txBody>
                  <a:tcPr marL="45000" marR="45000" marT="30000" marB="30000">
                    <a:solidFill>
                      <a:srgbClr val="1E293B"/>
                    </a:solidFill>
                  </a:tcPr>
                </a:tc>
              </a:tr>
            </a:tbl>
          </a:graphicData>
        </a:graphic>
      </p:graphicFrame>
      <p:sp>
        <p:nvSpPr>
          <p:cNvPr id="8" name="TextBox 7"/>
          <p:cNvSpPr txBox="1"/>
          <p:nvPr/>
        </p:nvSpPr>
        <p:spPr>
          <a:xfrm>
            <a:off x="457200" y="5715000"/>
            <a:ext cx="10972800" cy="365760"/>
          </a:xfrm>
          <a:prstGeom prst="rect">
            <a:avLst/>
          </a:prstGeom>
          <a:noFill/>
        </p:spPr>
        <p:txBody>
          <a:bodyPr wrap="square" lIns="0" rIns="0" tIns="0" bIns="0" anchor="t">
            <a:spAutoFit/>
          </a:bodyPr>
          <a:lstStyle/>
          <a:p>
            <a:pPr algn="l"/>
            <a:r>
              <a:rPr sz="1400" b="1">
                <a:solidFill>
                  <a:srgbClr val="38BDF8"/>
                </a:solidFill>
                <a:latin typeface="Calibri"/>
              </a:rPr>
              <a:t>33 bp gap between cheapest and most expensive — same risk to Nordwind.</a:t>
            </a:r>
          </a:p>
        </p:txBody>
      </p:sp>
      <p:sp>
        <p:nvSpPr>
          <p:cNvPr id="9" name="TextBox 8"/>
          <p:cNvSpPr txBox="1"/>
          <p:nvPr/>
        </p:nvSpPr>
        <p:spPr>
          <a:xfrm>
            <a:off x="457200" y="6080760"/>
            <a:ext cx="10972800" cy="365760"/>
          </a:xfrm>
          <a:prstGeom prst="rect">
            <a:avLst/>
          </a:prstGeom>
          <a:noFill/>
        </p:spPr>
        <p:txBody>
          <a:bodyPr wrap="square" lIns="0" rIns="0" tIns="0" bIns="0" anchor="t">
            <a:spAutoFit/>
          </a:bodyPr>
          <a:lstStyle/>
          <a:p>
            <a:pPr algn="l"/>
            <a:r>
              <a:rPr sz="1200" b="0">
                <a:solidFill>
                  <a:srgbClr val="94A3B8"/>
                </a:solidFill>
                <a:latin typeface="Calibri"/>
              </a:rPr>
              <a:t>Sabine doesn't need to switch banks. She needs to walk in with this chart.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ounded Rectangle 1"/>
          <p:cNvSpPr/>
          <p:nvPr/>
        </p:nvSpPr>
        <p:spPr>
          <a:xfrm>
            <a:off x="457200" y="365760"/>
            <a:ext cx="1645920" cy="292608"/>
          </a:xfrm>
          <a:prstGeom prst="roundRect">
            <a:avLst>
              <a:gd name="adj" fmla="val 50000"/>
            </a:avLst>
          </a:prstGeom>
          <a:solidFill>
            <a:srgbClr val="1E293B"/>
          </a:solidFill>
          <a:ln w="9525">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38BDF8"/>
                </a:solidFill>
                <a:latin typeface="Calibri"/>
              </a:rPr>
              <a:t>CHAPTER 2 — HOW YOUR BANK RANKS</a:t>
            </a:r>
          </a:p>
        </p:txBody>
      </p:sp>
      <p:sp>
        <p:nvSpPr>
          <p:cNvPr id="3" name="TextBox 2"/>
          <p:cNvSpPr txBox="1"/>
          <p:nvPr/>
        </p:nvSpPr>
        <p:spPr>
          <a:xfrm>
            <a:off x="457200" y="777240"/>
            <a:ext cx="10972800" cy="640080"/>
          </a:xfrm>
          <a:prstGeom prst="rect">
            <a:avLst/>
          </a:prstGeom>
          <a:noFill/>
        </p:spPr>
        <p:txBody>
          <a:bodyPr wrap="square" lIns="0" rIns="0" tIns="0" bIns="0" anchor="t">
            <a:spAutoFit/>
          </a:bodyPr>
          <a:lstStyle/>
          <a:p>
            <a:pPr algn="l"/>
            <a:r>
              <a:rPr sz="3000" b="1">
                <a:solidFill>
                  <a:srgbClr val="FFFFFF"/>
                </a:solidFill>
                <a:latin typeface="Calibri"/>
              </a:rPr>
              <a:t>Three structural reasons your bank is more expensive than someone else's.</a:t>
            </a:r>
          </a:p>
        </p:txBody>
      </p:sp>
      <p:sp>
        <p:nvSpPr>
          <p:cNvPr id="4" name="TextBox 3"/>
          <p:cNvSpPr txBox="1"/>
          <p:nvPr/>
        </p:nvSpPr>
        <p:spPr>
          <a:xfrm>
            <a:off x="457200" y="1371600"/>
            <a:ext cx="10972800" cy="365760"/>
          </a:xfrm>
          <a:prstGeom prst="rect">
            <a:avLst/>
          </a:prstGeom>
          <a:noFill/>
        </p:spPr>
        <p:txBody>
          <a:bodyPr wrap="square" lIns="0" rIns="0" tIns="0" bIns="0" anchor="t">
            <a:spAutoFit/>
          </a:bodyPr>
          <a:lstStyle/>
          <a:p>
            <a:pPr algn="l"/>
            <a:r>
              <a:rPr sz="1400" b="0">
                <a:solidFill>
                  <a:srgbClr val="94A3B8"/>
                </a:solidFill>
                <a:latin typeface="Calibri"/>
              </a:rPr>
              <a:t>All three are now things you can name out loud in the meeting.</a:t>
            </a:r>
          </a:p>
        </p:txBody>
      </p:sp>
      <p:sp>
        <p:nvSpPr>
          <p:cNvPr id="5" name="TextBox 4"/>
          <p:cNvSpPr txBox="1"/>
          <p:nvPr/>
        </p:nvSpPr>
        <p:spPr>
          <a:xfrm>
            <a:off x="457200" y="6400800"/>
            <a:ext cx="6400800" cy="274320"/>
          </a:xfrm>
          <a:prstGeom prst="rect">
            <a:avLst/>
          </a:prstGeom>
          <a:noFill/>
        </p:spPr>
        <p:txBody>
          <a:bodyPr wrap="square" lIns="0" rIns="0" tIns="0" bIns="0" anchor="t">
            <a:spAutoFit/>
          </a:bodyPr>
          <a:lstStyle/>
          <a:p>
            <a:pPr algn="l"/>
            <a:r>
              <a:rPr sz="1000" b="0">
                <a:solidFill>
                  <a:srgbClr val="64748B"/>
                </a:solidFill>
                <a:latin typeface="Calibri"/>
              </a:rPr>
              <a:t>OpenRAROC  •  See your credit through your banker's eyes</a:t>
            </a:r>
          </a:p>
        </p:txBody>
      </p:sp>
      <p:sp>
        <p:nvSpPr>
          <p:cNvPr id="6" name="TextBox 5"/>
          <p:cNvSpPr txBox="1"/>
          <p:nvPr/>
        </p:nvSpPr>
        <p:spPr>
          <a:xfrm>
            <a:off x="10058400" y="6400800"/>
            <a:ext cx="1828800" cy="274320"/>
          </a:xfrm>
          <a:prstGeom prst="rect">
            <a:avLst/>
          </a:prstGeom>
          <a:noFill/>
        </p:spPr>
        <p:txBody>
          <a:bodyPr wrap="square" lIns="0" rIns="0" tIns="0" bIns="0" anchor="t">
            <a:spAutoFit/>
          </a:bodyPr>
          <a:lstStyle/>
          <a:p>
            <a:pPr algn="r"/>
            <a:r>
              <a:rPr sz="1000" b="0">
                <a:solidFill>
                  <a:srgbClr val="64748B"/>
                </a:solidFill>
                <a:latin typeface="Calibri"/>
              </a:rPr>
              <a:t>9 / 12</a:t>
            </a:r>
          </a:p>
        </p:txBody>
      </p:sp>
      <p:sp>
        <p:nvSpPr>
          <p:cNvPr id="7" name="Rectangle 6"/>
          <p:cNvSpPr/>
          <p:nvPr/>
        </p:nvSpPr>
        <p:spPr>
          <a:xfrm>
            <a:off x="457200" y="1920240"/>
            <a:ext cx="3657600" cy="4206240"/>
          </a:xfrm>
          <a:prstGeom prst="rect">
            <a:avLst/>
          </a:prstGeom>
          <a:solidFill>
            <a:srgbClr val="1E293B"/>
          </a:solidFill>
          <a:ln w="15875">
            <a:solidFill>
              <a:srgbClr val="F973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2103120"/>
            <a:ext cx="3291840" cy="365760"/>
          </a:xfrm>
          <a:prstGeom prst="rect">
            <a:avLst/>
          </a:prstGeom>
          <a:noFill/>
        </p:spPr>
        <p:txBody>
          <a:bodyPr wrap="square" lIns="0" rIns="0" tIns="0" bIns="0" anchor="t">
            <a:spAutoFit/>
          </a:bodyPr>
          <a:lstStyle/>
          <a:p>
            <a:pPr algn="l"/>
            <a:r>
              <a:rPr sz="1400" b="1">
                <a:solidFill>
                  <a:srgbClr val="F97316"/>
                </a:solidFill>
                <a:latin typeface="Calibri"/>
              </a:rPr>
              <a:t>Cost-to-income (CTI)</a:t>
            </a:r>
          </a:p>
        </p:txBody>
      </p:sp>
      <p:sp>
        <p:nvSpPr>
          <p:cNvPr id="9" name="TextBox 8"/>
          <p:cNvSpPr txBox="1"/>
          <p:nvPr/>
        </p:nvSpPr>
        <p:spPr>
          <a:xfrm>
            <a:off x="685800" y="2468880"/>
            <a:ext cx="3291840" cy="3566160"/>
          </a:xfrm>
          <a:prstGeom prst="rect">
            <a:avLst/>
          </a:prstGeom>
          <a:noFill/>
        </p:spPr>
        <p:txBody>
          <a:bodyPr wrap="square" lIns="0" rIns="0" tIns="0" bIns="0">
            <a:spAutoFit/>
          </a:bodyPr>
          <a:lstStyle/>
          <a:p>
            <a:pPr>
              <a:lnSpc>
                <a:spcPct val="130000"/>
              </a:lnSpc>
              <a:spcAft>
                <a:spcPts val="800"/>
              </a:spcAft>
            </a:pPr>
            <a:r>
              <a:rPr sz="1100">
                <a:solidFill>
                  <a:srgbClr val="E2E8F0"/>
                </a:solidFill>
                <a:latin typeface="Calibri"/>
              </a:rPr>
              <a:t>Your bank spends 64 cents to earn each euro of revenue. Their best-in-class peer spends 52 cents.</a:t>
            </a:r>
          </a:p>
          <a:p>
            <a:pPr>
              <a:lnSpc>
                <a:spcPct val="130000"/>
              </a:lnSpc>
              <a:spcAft>
                <a:spcPts val="800"/>
              </a:spcAft>
            </a:pPr>
            <a:r>
              <a:rPr sz="1100">
                <a:solidFill>
                  <a:srgbClr val="E2E8F0"/>
                </a:solidFill>
                <a:latin typeface="Calibri"/>
              </a:rPr>
              <a:t>The 12-cent gap shows up in your spread.</a:t>
            </a:r>
          </a:p>
          <a:p>
            <a:pPr>
              <a:lnSpc>
                <a:spcPct val="130000"/>
              </a:lnSpc>
              <a:spcAft>
                <a:spcPts val="800"/>
              </a:spcAft>
            </a:pPr>
            <a:r>
              <a:rPr sz="1100">
                <a:solidFill>
                  <a:srgbClr val="E2E8F0"/>
                </a:solidFill>
                <a:latin typeface="Calibri"/>
              </a:rPr>
              <a:t>Public, audited, on page 1 of every annual report. Your RM cannot dispute this number.</a:t>
            </a:r>
          </a:p>
          <a:p>
            <a:pPr>
              <a:lnSpc>
                <a:spcPct val="130000"/>
              </a:lnSpc>
              <a:spcAft>
                <a:spcPts val="800"/>
              </a:spcAft>
            </a:pPr>
            <a:r>
              <a:rPr sz="1100">
                <a:solidFill>
                  <a:srgbClr val="E2E8F0"/>
                </a:solidFill>
                <a:latin typeface="Calibri"/>
              </a:rPr>
              <a:t>Your line: "I'm paying for your inefficiency."</a:t>
            </a:r>
          </a:p>
        </p:txBody>
      </p:sp>
      <p:sp>
        <p:nvSpPr>
          <p:cNvPr id="10" name="Rectangle 9"/>
          <p:cNvSpPr/>
          <p:nvPr/>
        </p:nvSpPr>
        <p:spPr>
          <a:xfrm>
            <a:off x="4251960" y="1920240"/>
            <a:ext cx="3657600" cy="4206240"/>
          </a:xfrm>
          <a:prstGeom prst="rect">
            <a:avLst/>
          </a:prstGeom>
          <a:solidFill>
            <a:srgbClr val="1E293B"/>
          </a:solidFill>
          <a:ln w="15875">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80560" y="2103120"/>
            <a:ext cx="3291840" cy="365760"/>
          </a:xfrm>
          <a:prstGeom prst="rect">
            <a:avLst/>
          </a:prstGeom>
          <a:noFill/>
        </p:spPr>
        <p:txBody>
          <a:bodyPr wrap="square" lIns="0" rIns="0" tIns="0" bIns="0" anchor="t">
            <a:spAutoFit/>
          </a:bodyPr>
          <a:lstStyle/>
          <a:p>
            <a:pPr algn="l"/>
            <a:r>
              <a:rPr sz="1400" b="1">
                <a:solidFill>
                  <a:srgbClr val="38BDF8"/>
                </a:solidFill>
                <a:latin typeface="Calibri"/>
              </a:rPr>
              <a:t>Effective tax rate</a:t>
            </a:r>
          </a:p>
        </p:txBody>
      </p:sp>
      <p:sp>
        <p:nvSpPr>
          <p:cNvPr id="12" name="TextBox 11"/>
          <p:cNvSpPr txBox="1"/>
          <p:nvPr/>
        </p:nvSpPr>
        <p:spPr>
          <a:xfrm>
            <a:off x="4480560" y="2468880"/>
            <a:ext cx="3291840" cy="3566160"/>
          </a:xfrm>
          <a:prstGeom prst="rect">
            <a:avLst/>
          </a:prstGeom>
          <a:noFill/>
        </p:spPr>
        <p:txBody>
          <a:bodyPr wrap="square" lIns="0" rIns="0" tIns="0" bIns="0">
            <a:spAutoFit/>
          </a:bodyPr>
          <a:lstStyle/>
          <a:p>
            <a:pPr>
              <a:lnSpc>
                <a:spcPct val="130000"/>
              </a:lnSpc>
              <a:spcAft>
                <a:spcPts val="800"/>
              </a:spcAft>
            </a:pPr>
            <a:r>
              <a:rPr sz="1100">
                <a:solidFill>
                  <a:srgbClr val="E2E8F0"/>
                </a:solidFill>
                <a:latin typeface="Calibri"/>
              </a:rPr>
              <a:t>RAROC is post-tax. A US bank pays 21% effective; a Dutch bank pays 28%.</a:t>
            </a:r>
          </a:p>
          <a:p>
            <a:pPr>
              <a:lnSpc>
                <a:spcPct val="130000"/>
              </a:lnSpc>
              <a:spcAft>
                <a:spcPts val="800"/>
              </a:spcAft>
            </a:pPr>
            <a:r>
              <a:rPr sz="1100">
                <a:solidFill>
                  <a:srgbClr val="E2E8F0"/>
                </a:solidFill>
                <a:latin typeface="Calibri"/>
              </a:rPr>
              <a:t>5 points of tax delta = ~70 bp of RAROC delta on this deal.</a:t>
            </a:r>
          </a:p>
          <a:p>
            <a:pPr>
              <a:lnSpc>
                <a:spcPct val="130000"/>
              </a:lnSpc>
              <a:spcAft>
                <a:spcPts val="800"/>
              </a:spcAft>
            </a:pPr>
            <a:r>
              <a:rPr sz="1100">
                <a:solidFill>
                  <a:srgbClr val="E2E8F0"/>
                </a:solidFill>
                <a:latin typeface="Calibri"/>
              </a:rPr>
              <a:t>Pure geography. The bank with the better passport quotes you better.</a:t>
            </a:r>
          </a:p>
          <a:p>
            <a:pPr>
              <a:lnSpc>
                <a:spcPct val="130000"/>
              </a:lnSpc>
              <a:spcAft>
                <a:spcPts val="800"/>
              </a:spcAft>
            </a:pPr>
            <a:r>
              <a:rPr sz="1100">
                <a:solidFill>
                  <a:srgbClr val="E2E8F0"/>
                </a:solidFill>
                <a:latin typeface="Calibri"/>
              </a:rPr>
              <a:t>Your line: "Have you considered which entity books this deal?"</a:t>
            </a:r>
          </a:p>
        </p:txBody>
      </p:sp>
      <p:sp>
        <p:nvSpPr>
          <p:cNvPr id="13" name="Rectangle 12"/>
          <p:cNvSpPr/>
          <p:nvPr/>
        </p:nvSpPr>
        <p:spPr>
          <a:xfrm>
            <a:off x="8046720" y="1920240"/>
            <a:ext cx="3657600" cy="4206240"/>
          </a:xfrm>
          <a:prstGeom prst="rect">
            <a:avLst/>
          </a:prstGeom>
          <a:solidFill>
            <a:srgbClr val="1E293B"/>
          </a:solidFill>
          <a:ln w="15875">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5320" y="2103120"/>
            <a:ext cx="3291840" cy="365760"/>
          </a:xfrm>
          <a:prstGeom prst="rect">
            <a:avLst/>
          </a:prstGeom>
          <a:noFill/>
        </p:spPr>
        <p:txBody>
          <a:bodyPr wrap="square" lIns="0" rIns="0" tIns="0" bIns="0" anchor="t">
            <a:spAutoFit/>
          </a:bodyPr>
          <a:lstStyle/>
          <a:p>
            <a:pPr algn="l"/>
            <a:r>
              <a:rPr sz="1400" b="1">
                <a:solidFill>
                  <a:srgbClr val="22C55E"/>
                </a:solidFill>
                <a:latin typeface="Calibri"/>
              </a:rPr>
              <a:t>Output floor &amp; LGD floor</a:t>
            </a:r>
          </a:p>
        </p:txBody>
      </p:sp>
      <p:sp>
        <p:nvSpPr>
          <p:cNvPr id="15" name="TextBox 14"/>
          <p:cNvSpPr txBox="1"/>
          <p:nvPr/>
        </p:nvSpPr>
        <p:spPr>
          <a:xfrm>
            <a:off x="8275320" y="2468880"/>
            <a:ext cx="3291840" cy="3566160"/>
          </a:xfrm>
          <a:prstGeom prst="rect">
            <a:avLst/>
          </a:prstGeom>
          <a:noFill/>
        </p:spPr>
        <p:txBody>
          <a:bodyPr wrap="square" lIns="0" rIns="0" tIns="0" bIns="0">
            <a:spAutoFit/>
          </a:bodyPr>
          <a:lstStyle/>
          <a:p>
            <a:pPr>
              <a:lnSpc>
                <a:spcPct val="130000"/>
              </a:lnSpc>
              <a:spcAft>
                <a:spcPts val="800"/>
              </a:spcAft>
            </a:pPr>
            <a:r>
              <a:rPr sz="1100">
                <a:solidFill>
                  <a:srgbClr val="E2E8F0"/>
                </a:solidFill>
                <a:latin typeface="Calibri"/>
              </a:rPr>
              <a:t>Banks not yet at 55% output floor look cheaper today and re-price you in 2027.</a:t>
            </a:r>
          </a:p>
          <a:p>
            <a:pPr>
              <a:lnSpc>
                <a:spcPct val="130000"/>
              </a:lnSpc>
              <a:spcAft>
                <a:spcPts val="800"/>
              </a:spcAft>
            </a:pPr>
            <a:r>
              <a:rPr sz="1100">
                <a:solidFill>
                  <a:srgbClr val="E2E8F0"/>
                </a:solidFill>
                <a:latin typeface="Calibri"/>
              </a:rPr>
              <a:t>LGD floors (25% unsecured / 10% receivables-secured) hit each bank differently.</a:t>
            </a:r>
          </a:p>
          <a:p>
            <a:pPr>
              <a:lnSpc>
                <a:spcPct val="130000"/>
              </a:lnSpc>
              <a:spcAft>
                <a:spcPts val="800"/>
              </a:spcAft>
            </a:pPr>
            <a:r>
              <a:rPr sz="1100">
                <a:solidFill>
                  <a:srgbClr val="E2E8F0"/>
                </a:solidFill>
                <a:latin typeface="Calibri"/>
              </a:rPr>
              <a:t>Both are Basel IV mechanisms phasing in 2025-2030.</a:t>
            </a:r>
          </a:p>
          <a:p>
            <a:pPr>
              <a:lnSpc>
                <a:spcPct val="130000"/>
              </a:lnSpc>
              <a:spcAft>
                <a:spcPts val="800"/>
              </a:spcAft>
            </a:pPr>
            <a:r>
              <a:rPr sz="1100">
                <a:solidFill>
                  <a:srgbClr val="E2E8F0"/>
                </a:solidFill>
                <a:latin typeface="Calibri"/>
              </a:rPr>
              <a:t>Your line: "What floor are you currently applying to my exposure?"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ounded Rectangle 1"/>
          <p:cNvSpPr/>
          <p:nvPr/>
        </p:nvSpPr>
        <p:spPr>
          <a:xfrm>
            <a:off x="457200" y="365760"/>
            <a:ext cx="1645920" cy="292608"/>
          </a:xfrm>
          <a:prstGeom prst="roundRect">
            <a:avLst>
              <a:gd name="adj" fmla="val 50000"/>
            </a:avLst>
          </a:prstGeom>
          <a:solidFill>
            <a:srgbClr val="1E293B"/>
          </a:solidFill>
          <a:ln w="9525">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38BDF8"/>
                </a:solidFill>
                <a:latin typeface="Calibri"/>
              </a:rPr>
              <a:t>CHAPTER 3 — THE NEGOTIATION</a:t>
            </a:r>
          </a:p>
        </p:txBody>
      </p:sp>
      <p:sp>
        <p:nvSpPr>
          <p:cNvPr id="3" name="TextBox 2"/>
          <p:cNvSpPr txBox="1"/>
          <p:nvPr/>
        </p:nvSpPr>
        <p:spPr>
          <a:xfrm>
            <a:off x="457200" y="777240"/>
            <a:ext cx="10972800" cy="640080"/>
          </a:xfrm>
          <a:prstGeom prst="rect">
            <a:avLst/>
          </a:prstGeom>
          <a:noFill/>
        </p:spPr>
        <p:txBody>
          <a:bodyPr wrap="square" lIns="0" rIns="0" tIns="0" bIns="0" anchor="t">
            <a:spAutoFit/>
          </a:bodyPr>
          <a:lstStyle/>
          <a:p>
            <a:pPr algn="l"/>
            <a:r>
              <a:rPr sz="3000" b="1">
                <a:solidFill>
                  <a:srgbClr val="FFFFFF"/>
                </a:solidFill>
                <a:latin typeface="Calibri"/>
              </a:rPr>
              <a:t>What Sabine brings to her next meeting with BNP.</a:t>
            </a:r>
          </a:p>
        </p:txBody>
      </p:sp>
      <p:sp>
        <p:nvSpPr>
          <p:cNvPr id="4" name="TextBox 3"/>
          <p:cNvSpPr txBox="1"/>
          <p:nvPr/>
        </p:nvSpPr>
        <p:spPr>
          <a:xfrm>
            <a:off x="457200" y="1371600"/>
            <a:ext cx="10972800" cy="365760"/>
          </a:xfrm>
          <a:prstGeom prst="rect">
            <a:avLst/>
          </a:prstGeom>
          <a:noFill/>
        </p:spPr>
        <p:txBody>
          <a:bodyPr wrap="square" lIns="0" rIns="0" tIns="0" bIns="0" anchor="t">
            <a:spAutoFit/>
          </a:bodyPr>
          <a:lstStyle/>
          <a:p>
            <a:pPr algn="l"/>
            <a:r>
              <a:rPr sz="1400" b="0">
                <a:solidFill>
                  <a:srgbClr val="94A3B8"/>
                </a:solidFill>
                <a:latin typeface="Calibri"/>
              </a:rPr>
              <a:t>The same engine, run backwards. Asks: what's the minimum spread BNP can accept?</a:t>
            </a:r>
          </a:p>
        </p:txBody>
      </p:sp>
      <p:sp>
        <p:nvSpPr>
          <p:cNvPr id="5" name="TextBox 4"/>
          <p:cNvSpPr txBox="1"/>
          <p:nvPr/>
        </p:nvSpPr>
        <p:spPr>
          <a:xfrm>
            <a:off x="457200" y="6400800"/>
            <a:ext cx="6400800" cy="274320"/>
          </a:xfrm>
          <a:prstGeom prst="rect">
            <a:avLst/>
          </a:prstGeom>
          <a:noFill/>
        </p:spPr>
        <p:txBody>
          <a:bodyPr wrap="square" lIns="0" rIns="0" tIns="0" bIns="0" anchor="t">
            <a:spAutoFit/>
          </a:bodyPr>
          <a:lstStyle/>
          <a:p>
            <a:pPr algn="l"/>
            <a:r>
              <a:rPr sz="1000" b="0">
                <a:solidFill>
                  <a:srgbClr val="64748B"/>
                </a:solidFill>
                <a:latin typeface="Calibri"/>
              </a:rPr>
              <a:t>OpenRAROC  •  See your credit through your banker's eyes</a:t>
            </a:r>
          </a:p>
        </p:txBody>
      </p:sp>
      <p:sp>
        <p:nvSpPr>
          <p:cNvPr id="6" name="TextBox 5"/>
          <p:cNvSpPr txBox="1"/>
          <p:nvPr/>
        </p:nvSpPr>
        <p:spPr>
          <a:xfrm>
            <a:off x="10058400" y="6400800"/>
            <a:ext cx="1828800" cy="274320"/>
          </a:xfrm>
          <a:prstGeom prst="rect">
            <a:avLst/>
          </a:prstGeom>
          <a:noFill/>
        </p:spPr>
        <p:txBody>
          <a:bodyPr wrap="square" lIns="0" rIns="0" tIns="0" bIns="0" anchor="t">
            <a:spAutoFit/>
          </a:bodyPr>
          <a:lstStyle/>
          <a:p>
            <a:pPr algn="r"/>
            <a:r>
              <a:rPr sz="1000" b="0">
                <a:solidFill>
                  <a:srgbClr val="64748B"/>
                </a:solidFill>
                <a:latin typeface="Calibri"/>
              </a:rPr>
              <a:t>10 / 12</a:t>
            </a:r>
          </a:p>
        </p:txBody>
      </p:sp>
      <p:sp>
        <p:nvSpPr>
          <p:cNvPr id="7" name="Rectangle 6"/>
          <p:cNvSpPr/>
          <p:nvPr/>
        </p:nvSpPr>
        <p:spPr>
          <a:xfrm>
            <a:off x="457200" y="1920240"/>
            <a:ext cx="5029200" cy="4114800"/>
          </a:xfrm>
          <a:prstGeom prst="rect">
            <a:avLst/>
          </a:prstGeom>
          <a:solidFill>
            <a:srgbClr val="1E293B"/>
          </a:solidFill>
          <a:ln w="9525">
            <a:solidFill>
              <a:srgbClr val="4755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2103120"/>
            <a:ext cx="4572000" cy="365760"/>
          </a:xfrm>
          <a:prstGeom prst="rect">
            <a:avLst/>
          </a:prstGeom>
          <a:noFill/>
        </p:spPr>
        <p:txBody>
          <a:bodyPr wrap="square" lIns="0" rIns="0" tIns="0" bIns="0" anchor="t">
            <a:spAutoFit/>
          </a:bodyPr>
          <a:lstStyle/>
          <a:p>
            <a:pPr algn="l"/>
            <a:r>
              <a:rPr sz="1000" b="1">
                <a:solidFill>
                  <a:srgbClr val="38BDF8"/>
                </a:solidFill>
                <a:latin typeface="Calibri"/>
              </a:rPr>
              <a:t>THE QUESTION SHE NOW CAN ASK</a:t>
            </a:r>
          </a:p>
        </p:txBody>
      </p:sp>
      <p:sp>
        <p:nvSpPr>
          <p:cNvPr id="9" name="TextBox 8"/>
          <p:cNvSpPr txBox="1"/>
          <p:nvPr/>
        </p:nvSpPr>
        <p:spPr>
          <a:xfrm>
            <a:off x="685800" y="2423160"/>
            <a:ext cx="4572000" cy="548640"/>
          </a:xfrm>
          <a:prstGeom prst="rect">
            <a:avLst/>
          </a:prstGeom>
          <a:noFill/>
        </p:spPr>
        <p:txBody>
          <a:bodyPr wrap="square" lIns="0" rIns="0" tIns="0" bIns="0" anchor="t">
            <a:spAutoFit/>
          </a:bodyPr>
          <a:lstStyle/>
          <a:p>
            <a:pPr algn="l"/>
            <a:r>
              <a:rPr sz="1800" b="1">
                <a:solidFill>
                  <a:srgbClr val="FFFFFF"/>
                </a:solidFill>
                <a:latin typeface="Calibri"/>
              </a:rPr>
              <a:t>"What is the lowest spread
your committee will approve?"</a:t>
            </a:r>
          </a:p>
        </p:txBody>
      </p:sp>
      <p:sp>
        <p:nvSpPr>
          <p:cNvPr id="10" name="TextBox 9"/>
          <p:cNvSpPr txBox="1"/>
          <p:nvPr/>
        </p:nvSpPr>
        <p:spPr>
          <a:xfrm>
            <a:off x="685800" y="3520440"/>
            <a:ext cx="4572000" cy="365760"/>
          </a:xfrm>
          <a:prstGeom prst="rect">
            <a:avLst/>
          </a:prstGeom>
          <a:noFill/>
        </p:spPr>
        <p:txBody>
          <a:bodyPr wrap="square" lIns="0" rIns="0" tIns="0" bIns="0" anchor="t">
            <a:spAutoFit/>
          </a:bodyPr>
          <a:lstStyle/>
          <a:p>
            <a:pPr algn="l"/>
            <a:r>
              <a:rPr sz="1000" b="1">
                <a:solidFill>
                  <a:srgbClr val="38BDF8"/>
                </a:solidFill>
                <a:latin typeface="Calibri"/>
              </a:rPr>
              <a:t>WHAT THE TOOL DOES</a:t>
            </a:r>
          </a:p>
        </p:txBody>
      </p:sp>
      <p:sp>
        <p:nvSpPr>
          <p:cNvPr id="11" name="TextBox 10"/>
          <p:cNvSpPr txBox="1"/>
          <p:nvPr/>
        </p:nvSpPr>
        <p:spPr>
          <a:xfrm>
            <a:off x="685800" y="3840480"/>
            <a:ext cx="4572000" cy="1828800"/>
          </a:xfrm>
          <a:prstGeom prst="rect">
            <a:avLst/>
          </a:prstGeom>
          <a:noFill/>
        </p:spPr>
        <p:txBody>
          <a:bodyPr wrap="square" lIns="0" rIns="0" tIns="0" bIns="0" anchor="t">
            <a:spAutoFit/>
          </a:bodyPr>
          <a:lstStyle/>
          <a:p>
            <a:pPr algn="l"/>
            <a:r>
              <a:rPr sz="1200" b="0">
                <a:solidFill>
                  <a:srgbClr val="94A3B8"/>
                </a:solidFill>
                <a:latin typeface="Calibri"/>
              </a:rPr>
              <a:t>Holds everything else constant.
Solves for the spread that hits 12%.
Result for BNP on Sabine's deal: 143 bp.
20 basis points below the 150 they quoted.</a:t>
            </a:r>
          </a:p>
        </p:txBody>
      </p:sp>
      <p:graphicFrame>
        <p:nvGraphicFramePr>
          <p:cNvPr id="12" name="Table 11"/>
          <p:cNvGraphicFramePr>
            <a:graphicFrameLocks noGrp="1"/>
          </p:cNvGraphicFramePr>
          <p:nvPr/>
        </p:nvGraphicFramePr>
        <p:xfrm>
          <a:off x="5715000" y="1920240"/>
          <a:ext cx="6035040" cy="3657600"/>
        </p:xfrm>
        <a:graphic>
          <a:graphicData uri="http://schemas.openxmlformats.org/drawingml/2006/table">
            <a:tbl>
              <a:tblPr firstRow="1" bandRow="1">
                <a:tableStyleId>{5C22544A-7EE6-4342-B048-85BDC9FD1C3A}</a:tableStyleId>
              </a:tblPr>
              <a:tblGrid>
                <a:gridCol w="1280160"/>
                <a:gridCol w="1371600"/>
                <a:gridCol w="1828800"/>
                <a:gridCol w="1554480"/>
              </a:tblGrid>
              <a:tr h="609600">
                <a:tc>
                  <a:txBody>
                    <a:bodyPr wrap="square"/>
                    <a:lstStyle/>
                    <a:p>
                      <a:pPr algn="r"/>
                      <a:r>
                        <a:rPr sz="1000" b="1">
                          <a:solidFill>
                            <a:srgbClr val="38BDF8"/>
                          </a:solidFill>
                          <a:latin typeface="Calibri"/>
                        </a:rPr>
                        <a:t>Spread</a:t>
                      </a:r>
                    </a:p>
                  </a:txBody>
                  <a:tcPr marL="45000" marR="45000" marT="30000" marB="30000">
                    <a:solidFill>
                      <a:srgbClr val="334155"/>
                    </a:solidFill>
                  </a:tcPr>
                </a:tc>
                <a:tc>
                  <a:txBody>
                    <a:bodyPr wrap="square"/>
                    <a:lstStyle/>
                    <a:p>
                      <a:pPr algn="r"/>
                      <a:r>
                        <a:rPr sz="1000" b="1">
                          <a:solidFill>
                            <a:srgbClr val="38BDF8"/>
                          </a:solidFill>
                          <a:latin typeface="Calibri"/>
                        </a:rPr>
                        <a:t>RAROC</a:t>
                      </a:r>
                    </a:p>
                  </a:txBody>
                  <a:tcPr marL="45000" marR="45000" marT="30000" marB="30000">
                    <a:solidFill>
                      <a:srgbClr val="334155"/>
                    </a:solidFill>
                  </a:tcPr>
                </a:tc>
                <a:tc>
                  <a:txBody>
                    <a:bodyPr wrap="square"/>
                    <a:lstStyle/>
                    <a:p>
                      <a:pPr algn="r"/>
                      <a:r>
                        <a:rPr sz="1000" b="1">
                          <a:solidFill>
                            <a:srgbClr val="38BDF8"/>
                          </a:solidFill>
                          <a:latin typeface="Calibri"/>
                        </a:rPr>
                        <a:t>Annual revenue</a:t>
                      </a:r>
                    </a:p>
                  </a:txBody>
                  <a:tcPr marL="45000" marR="45000" marT="30000" marB="30000">
                    <a:solidFill>
                      <a:srgbClr val="334155"/>
                    </a:solidFill>
                  </a:tcPr>
                </a:tc>
                <a:tc>
                  <a:txBody>
                    <a:bodyPr wrap="square"/>
                    <a:lstStyle/>
                    <a:p>
                      <a:pPr algn="r"/>
                      <a:r>
                        <a:rPr sz="1000" b="1">
                          <a:solidFill>
                            <a:srgbClr val="38BDF8"/>
                          </a:solidFill>
                          <a:latin typeface="Calibri"/>
                        </a:rPr>
                        <a:t>vs current</a:t>
                      </a:r>
                    </a:p>
                  </a:txBody>
                  <a:tcPr marL="45000" marR="45000" marT="30000" marB="30000">
                    <a:solidFill>
                      <a:srgbClr val="334155"/>
                    </a:solidFill>
                  </a:tcPr>
                </a:tc>
              </a:tr>
              <a:tr h="609600">
                <a:tc>
                  <a:txBody>
                    <a:bodyPr wrap="square"/>
                    <a:lstStyle/>
                    <a:p>
                      <a:pPr algn="r"/>
                      <a:r>
                        <a:rPr sz="1200" b="0">
                          <a:solidFill>
                            <a:srgbClr val="E2E8F0"/>
                          </a:solidFill>
                          <a:latin typeface="Calibri"/>
                        </a:rPr>
                        <a:t>150 bp</a:t>
                      </a:r>
                    </a:p>
                  </a:txBody>
                  <a:tcPr marL="45000" marR="45000" marT="30000" marB="30000">
                    <a:solidFill>
                      <a:srgbClr val="1E293B"/>
                    </a:solidFill>
                  </a:tcPr>
                </a:tc>
                <a:tc>
                  <a:txBody>
                    <a:bodyPr wrap="square"/>
                    <a:lstStyle/>
                    <a:p>
                      <a:pPr algn="r"/>
                      <a:r>
                        <a:rPr sz="1200" b="0">
                          <a:solidFill>
                            <a:srgbClr val="E2E8F0"/>
                          </a:solidFill>
                          <a:latin typeface="Calibri"/>
                        </a:rPr>
                        <a:t>12.52 %</a:t>
                      </a:r>
                    </a:p>
                  </a:txBody>
                  <a:tcPr marL="45000" marR="45000" marT="30000" marB="30000">
                    <a:solidFill>
                      <a:srgbClr val="1E293B"/>
                    </a:solidFill>
                  </a:tcPr>
                </a:tc>
                <a:tc>
                  <a:txBody>
                    <a:bodyPr wrap="square"/>
                    <a:lstStyle/>
                    <a:p>
                      <a:pPr algn="r"/>
                      <a:r>
                        <a:rPr sz="1200" b="0">
                          <a:solidFill>
                            <a:srgbClr val="E2E8F0"/>
                          </a:solidFill>
                          <a:latin typeface="Calibri"/>
                        </a:rPr>
                        <a:t>EUR 605,000</a:t>
                      </a:r>
                    </a:p>
                  </a:txBody>
                  <a:tcPr marL="45000" marR="45000" marT="30000" marB="30000">
                    <a:solidFill>
                      <a:srgbClr val="1E293B"/>
                    </a:solidFill>
                  </a:tcPr>
                </a:tc>
                <a:tc>
                  <a:txBody>
                    <a:bodyPr wrap="square"/>
                    <a:lstStyle/>
                    <a:p>
                      <a:pPr algn="r"/>
                      <a:r>
                        <a:rPr sz="1200" b="0">
                          <a:solidFill>
                            <a:srgbClr val="E2E8F0"/>
                          </a:solidFill>
                          <a:latin typeface="Calibri"/>
                        </a:rPr>
                        <a:t>—</a:t>
                      </a:r>
                    </a:p>
                  </a:txBody>
                  <a:tcPr marL="45000" marR="45000" marT="30000" marB="30000">
                    <a:solidFill>
                      <a:srgbClr val="1E293B"/>
                    </a:solidFill>
                  </a:tcPr>
                </a:tc>
              </a:tr>
              <a:tr h="609600">
                <a:tc>
                  <a:txBody>
                    <a:bodyPr wrap="square"/>
                    <a:lstStyle/>
                    <a:p>
                      <a:pPr algn="r"/>
                      <a:r>
                        <a:rPr sz="1200" b="1">
                          <a:solidFill>
                            <a:srgbClr val="38BDF8"/>
                          </a:solidFill>
                          <a:latin typeface="Calibri"/>
                        </a:rPr>
                        <a:t>143 bp</a:t>
                      </a:r>
                    </a:p>
                  </a:txBody>
                  <a:tcPr marL="45000" marR="45000" marT="30000" marB="30000">
                    <a:solidFill>
                      <a:srgbClr val="334155"/>
                    </a:solidFill>
                  </a:tcPr>
                </a:tc>
                <a:tc>
                  <a:txBody>
                    <a:bodyPr wrap="square"/>
                    <a:lstStyle/>
                    <a:p>
                      <a:pPr algn="r"/>
                      <a:r>
                        <a:rPr sz="1200" b="1">
                          <a:solidFill>
                            <a:srgbClr val="38BDF8"/>
                          </a:solidFill>
                          <a:latin typeface="Calibri"/>
                        </a:rPr>
                        <a:t>12.00 %</a:t>
                      </a:r>
                    </a:p>
                  </a:txBody>
                  <a:tcPr marL="45000" marR="45000" marT="30000" marB="30000">
                    <a:solidFill>
                      <a:srgbClr val="334155"/>
                    </a:solidFill>
                  </a:tcPr>
                </a:tc>
                <a:tc>
                  <a:txBody>
                    <a:bodyPr wrap="square"/>
                    <a:lstStyle/>
                    <a:p>
                      <a:pPr algn="r"/>
                      <a:r>
                        <a:rPr sz="1200" b="1">
                          <a:solidFill>
                            <a:srgbClr val="38BDF8"/>
                          </a:solidFill>
                          <a:latin typeface="Calibri"/>
                        </a:rPr>
                        <a:t>EUR 581,705</a:t>
                      </a:r>
                    </a:p>
                  </a:txBody>
                  <a:tcPr marL="45000" marR="45000" marT="30000" marB="30000">
                    <a:solidFill>
                      <a:srgbClr val="334155"/>
                    </a:solidFill>
                  </a:tcPr>
                </a:tc>
                <a:tc>
                  <a:txBody>
                    <a:bodyPr wrap="square"/>
                    <a:lstStyle/>
                    <a:p>
                      <a:pPr algn="r"/>
                      <a:r>
                        <a:rPr sz="1200" b="1">
                          <a:solidFill>
                            <a:srgbClr val="38BDF8"/>
                          </a:solidFill>
                          <a:latin typeface="Calibri"/>
                        </a:rPr>
                        <a:t>−EUR 23,295</a:t>
                      </a:r>
                    </a:p>
                  </a:txBody>
                  <a:tcPr marL="45000" marR="45000" marT="30000" marB="30000">
                    <a:solidFill>
                      <a:srgbClr val="334155"/>
                    </a:solidFill>
                  </a:tcPr>
                </a:tc>
              </a:tr>
              <a:tr h="609600">
                <a:tc>
                  <a:txBody>
                    <a:bodyPr wrap="square"/>
                    <a:lstStyle/>
                    <a:p>
                      <a:pPr algn="r"/>
                      <a:r>
                        <a:rPr sz="1200" b="0">
                          <a:solidFill>
                            <a:srgbClr val="E2E8F0"/>
                          </a:solidFill>
                          <a:latin typeface="Calibri"/>
                        </a:rPr>
                        <a:t>140 bp</a:t>
                      </a:r>
                    </a:p>
                  </a:txBody>
                  <a:tcPr marL="45000" marR="45000" marT="30000" marB="30000">
                    <a:solidFill>
                      <a:srgbClr val="1E293B"/>
                    </a:solidFill>
                  </a:tcPr>
                </a:tc>
                <a:tc>
                  <a:txBody>
                    <a:bodyPr wrap="square"/>
                    <a:lstStyle/>
                    <a:p>
                      <a:pPr algn="r"/>
                      <a:r>
                        <a:rPr sz="1200" b="0">
                          <a:solidFill>
                            <a:srgbClr val="E2E8F0"/>
                          </a:solidFill>
                          <a:latin typeface="Calibri"/>
                        </a:rPr>
                        <a:t>11.74 %</a:t>
                      </a:r>
                    </a:p>
                  </a:txBody>
                  <a:tcPr marL="45000" marR="45000" marT="30000" marB="30000">
                    <a:solidFill>
                      <a:srgbClr val="1E293B"/>
                    </a:solidFill>
                  </a:tcPr>
                </a:tc>
                <a:tc>
                  <a:txBody>
                    <a:bodyPr wrap="square"/>
                    <a:lstStyle/>
                    <a:p>
                      <a:pPr algn="r"/>
                      <a:r>
                        <a:rPr sz="1200" b="0">
                          <a:solidFill>
                            <a:srgbClr val="E2E8F0"/>
                          </a:solidFill>
                          <a:latin typeface="Calibri"/>
                        </a:rPr>
                        <a:t>EUR 570,000</a:t>
                      </a:r>
                    </a:p>
                  </a:txBody>
                  <a:tcPr marL="45000" marR="45000" marT="30000" marB="30000">
                    <a:solidFill>
                      <a:srgbClr val="1E293B"/>
                    </a:solidFill>
                  </a:tcPr>
                </a:tc>
                <a:tc>
                  <a:txBody>
                    <a:bodyPr wrap="square"/>
                    <a:lstStyle/>
                    <a:p>
                      <a:pPr algn="r"/>
                      <a:r>
                        <a:rPr sz="1200" b="0">
                          <a:solidFill>
                            <a:srgbClr val="E2E8F0"/>
                          </a:solidFill>
                          <a:latin typeface="Calibri"/>
                        </a:rPr>
                        <a:t>−EUR 35,000</a:t>
                      </a:r>
                    </a:p>
                  </a:txBody>
                  <a:tcPr marL="45000" marR="45000" marT="30000" marB="30000">
                    <a:solidFill>
                      <a:srgbClr val="1E293B"/>
                    </a:solidFill>
                  </a:tcPr>
                </a:tc>
              </a:tr>
              <a:tr h="609600">
                <a:tc>
                  <a:txBody>
                    <a:bodyPr wrap="square"/>
                    <a:lstStyle/>
                    <a:p>
                      <a:pPr algn="r"/>
                      <a:r>
                        <a:rPr sz="1200" b="0">
                          <a:solidFill>
                            <a:srgbClr val="E2E8F0"/>
                          </a:solidFill>
                          <a:latin typeface="Calibri"/>
                        </a:rPr>
                        <a:t>130 bp</a:t>
                      </a:r>
                    </a:p>
                  </a:txBody>
                  <a:tcPr marL="45000" marR="45000" marT="30000" marB="30000">
                    <a:solidFill>
                      <a:srgbClr val="1E293B"/>
                    </a:solidFill>
                  </a:tcPr>
                </a:tc>
                <a:tc>
                  <a:txBody>
                    <a:bodyPr wrap="square"/>
                    <a:lstStyle/>
                    <a:p>
                      <a:pPr algn="r"/>
                      <a:r>
                        <a:rPr sz="1200" b="0">
                          <a:solidFill>
                            <a:srgbClr val="E2E8F0"/>
                          </a:solidFill>
                          <a:latin typeface="Calibri"/>
                        </a:rPr>
                        <a:t>10.95 %</a:t>
                      </a:r>
                    </a:p>
                  </a:txBody>
                  <a:tcPr marL="45000" marR="45000" marT="30000" marB="30000">
                    <a:solidFill>
                      <a:srgbClr val="1E293B"/>
                    </a:solidFill>
                  </a:tcPr>
                </a:tc>
                <a:tc>
                  <a:txBody>
                    <a:bodyPr wrap="square"/>
                    <a:lstStyle/>
                    <a:p>
                      <a:pPr algn="r"/>
                      <a:r>
                        <a:rPr sz="1200" b="0">
                          <a:solidFill>
                            <a:srgbClr val="E2E8F0"/>
                          </a:solidFill>
                          <a:latin typeface="Calibri"/>
                        </a:rPr>
                        <a:t>EUR 535,000</a:t>
                      </a:r>
                    </a:p>
                  </a:txBody>
                  <a:tcPr marL="45000" marR="45000" marT="30000" marB="30000">
                    <a:solidFill>
                      <a:srgbClr val="1E293B"/>
                    </a:solidFill>
                  </a:tcPr>
                </a:tc>
                <a:tc>
                  <a:txBody>
                    <a:bodyPr wrap="square"/>
                    <a:lstStyle/>
                    <a:p>
                      <a:pPr algn="r"/>
                      <a:r>
                        <a:rPr sz="1200" b="0">
                          <a:solidFill>
                            <a:srgbClr val="E2E8F0"/>
                          </a:solidFill>
                          <a:latin typeface="Calibri"/>
                        </a:rPr>
                        <a:t>−EUR 70,000</a:t>
                      </a:r>
                    </a:p>
                  </a:txBody>
                  <a:tcPr marL="45000" marR="45000" marT="30000" marB="30000">
                    <a:solidFill>
                      <a:srgbClr val="1E293B"/>
                    </a:solidFill>
                  </a:tcPr>
                </a:tc>
              </a:tr>
              <a:tr h="609600">
                <a:tc>
                  <a:txBody>
                    <a:bodyPr wrap="square"/>
                    <a:lstStyle/>
                    <a:p>
                      <a:pPr algn="r"/>
                      <a:r>
                        <a:rPr sz="1200" b="0">
                          <a:solidFill>
                            <a:srgbClr val="E2E8F0"/>
                          </a:solidFill>
                          <a:latin typeface="Calibri"/>
                        </a:rPr>
                        <a:t>120 bp</a:t>
                      </a:r>
                    </a:p>
                  </a:txBody>
                  <a:tcPr marL="45000" marR="45000" marT="30000" marB="30000">
                    <a:solidFill>
                      <a:srgbClr val="1E293B"/>
                    </a:solidFill>
                  </a:tcPr>
                </a:tc>
                <a:tc>
                  <a:txBody>
                    <a:bodyPr wrap="square"/>
                    <a:lstStyle/>
                    <a:p>
                      <a:pPr algn="r"/>
                      <a:r>
                        <a:rPr sz="1200" b="0">
                          <a:solidFill>
                            <a:srgbClr val="E2E8F0"/>
                          </a:solidFill>
                          <a:latin typeface="Calibri"/>
                        </a:rPr>
                        <a:t>10.17 %</a:t>
                      </a:r>
                    </a:p>
                  </a:txBody>
                  <a:tcPr marL="45000" marR="45000" marT="30000" marB="30000">
                    <a:solidFill>
                      <a:srgbClr val="1E293B"/>
                    </a:solidFill>
                  </a:tcPr>
                </a:tc>
                <a:tc>
                  <a:txBody>
                    <a:bodyPr wrap="square"/>
                    <a:lstStyle/>
                    <a:p>
                      <a:pPr algn="r"/>
                      <a:r>
                        <a:rPr sz="1200" b="0">
                          <a:solidFill>
                            <a:srgbClr val="E2E8F0"/>
                          </a:solidFill>
                          <a:latin typeface="Calibri"/>
                        </a:rPr>
                        <a:t>EUR 500,000</a:t>
                      </a:r>
                    </a:p>
                  </a:txBody>
                  <a:tcPr marL="45000" marR="45000" marT="30000" marB="30000">
                    <a:solidFill>
                      <a:srgbClr val="1E293B"/>
                    </a:solidFill>
                  </a:tcPr>
                </a:tc>
                <a:tc>
                  <a:txBody>
                    <a:bodyPr wrap="square"/>
                    <a:lstStyle/>
                    <a:p>
                      <a:pPr algn="r"/>
                      <a:r>
                        <a:rPr sz="1200" b="0">
                          <a:solidFill>
                            <a:srgbClr val="E2E8F0"/>
                          </a:solidFill>
                          <a:latin typeface="Calibri"/>
                        </a:rPr>
                        <a:t>−EUR 105,000</a:t>
                      </a:r>
                    </a:p>
                  </a:txBody>
                  <a:tcPr marL="45000" marR="45000" marT="30000" marB="30000">
                    <a:solidFill>
                      <a:srgbClr val="1E293B"/>
                    </a:solidFill>
                  </a:tcPr>
                </a:tc>
              </a:tr>
            </a:tbl>
          </a:graphicData>
        </a:graphic>
      </p:graphicFrame>
      <p:sp>
        <p:nvSpPr>
          <p:cNvPr id="13" name="TextBox 12"/>
          <p:cNvSpPr txBox="1"/>
          <p:nvPr/>
        </p:nvSpPr>
        <p:spPr>
          <a:xfrm>
            <a:off x="5715000" y="5715000"/>
            <a:ext cx="6035040" cy="365760"/>
          </a:xfrm>
          <a:prstGeom prst="rect">
            <a:avLst/>
          </a:prstGeom>
          <a:noFill/>
        </p:spPr>
        <p:txBody>
          <a:bodyPr wrap="square" lIns="0" rIns="0" tIns="0" bIns="0" anchor="t">
            <a:spAutoFit/>
          </a:bodyPr>
          <a:lstStyle/>
          <a:p>
            <a:pPr algn="l"/>
            <a:r>
              <a:rPr sz="1200" b="1">
                <a:solidFill>
                  <a:srgbClr val="38BDF8"/>
                </a:solidFill>
                <a:latin typeface="Calibri"/>
              </a:rPr>
              <a:t>Sabine walks in saying: "I know your floor is 143. Let's start there."</a:t>
            </a:r>
          </a:p>
        </p:txBody>
      </p:sp>
      <p:sp>
        <p:nvSpPr>
          <p:cNvPr id="14" name="TextBox 13"/>
          <p:cNvSpPr txBox="1"/>
          <p:nvPr/>
        </p:nvSpPr>
        <p:spPr>
          <a:xfrm>
            <a:off x="5715000" y="6035040"/>
            <a:ext cx="6035040" cy="365760"/>
          </a:xfrm>
          <a:prstGeom prst="rect">
            <a:avLst/>
          </a:prstGeom>
          <a:noFill/>
        </p:spPr>
        <p:txBody>
          <a:bodyPr wrap="square" lIns="0" rIns="0" tIns="0" bIns="0" anchor="t">
            <a:spAutoFit/>
          </a:bodyPr>
          <a:lstStyle/>
          <a:p>
            <a:pPr algn="l"/>
            <a:r>
              <a:rPr sz="1100" b="0">
                <a:solidFill>
                  <a:srgbClr val="94A3B8"/>
                </a:solidFill>
                <a:latin typeface="Calibri"/>
              </a:rPr>
              <a:t>The negotiation that used to take three calls now takes thirty seconds.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ounded Rectangle 1"/>
          <p:cNvSpPr/>
          <p:nvPr/>
        </p:nvSpPr>
        <p:spPr>
          <a:xfrm>
            <a:off x="457200" y="365760"/>
            <a:ext cx="1645920" cy="292608"/>
          </a:xfrm>
          <a:prstGeom prst="roundRect">
            <a:avLst>
              <a:gd name="adj" fmla="val 50000"/>
            </a:avLst>
          </a:prstGeom>
          <a:solidFill>
            <a:srgbClr val="1E293B"/>
          </a:solidFill>
          <a:ln w="9525">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38BDF8"/>
                </a:solidFill>
                <a:latin typeface="Calibri"/>
              </a:rPr>
              <a:t>CHAPTER 3 — THE NEGOTIATION</a:t>
            </a:r>
          </a:p>
        </p:txBody>
      </p:sp>
      <p:sp>
        <p:nvSpPr>
          <p:cNvPr id="3" name="TextBox 2"/>
          <p:cNvSpPr txBox="1"/>
          <p:nvPr/>
        </p:nvSpPr>
        <p:spPr>
          <a:xfrm>
            <a:off x="457200" y="777240"/>
            <a:ext cx="10972800" cy="640080"/>
          </a:xfrm>
          <a:prstGeom prst="rect">
            <a:avLst/>
          </a:prstGeom>
          <a:noFill/>
        </p:spPr>
        <p:txBody>
          <a:bodyPr wrap="square" lIns="0" rIns="0" tIns="0" bIns="0" anchor="t">
            <a:spAutoFit/>
          </a:bodyPr>
          <a:lstStyle/>
          <a:p>
            <a:pPr algn="l"/>
            <a:r>
              <a:rPr sz="3000" b="1">
                <a:solidFill>
                  <a:srgbClr val="FFFFFF"/>
                </a:solidFill>
                <a:latin typeface="Calibri"/>
              </a:rPr>
              <a:t>Three plausible endings. Sabine wins all three.</a:t>
            </a:r>
          </a:p>
        </p:txBody>
      </p:sp>
      <p:sp>
        <p:nvSpPr>
          <p:cNvPr id="4" name="TextBox 3"/>
          <p:cNvSpPr txBox="1"/>
          <p:nvPr/>
        </p:nvSpPr>
        <p:spPr>
          <a:xfrm>
            <a:off x="457200" y="1371600"/>
            <a:ext cx="10972800" cy="365760"/>
          </a:xfrm>
          <a:prstGeom prst="rect">
            <a:avLst/>
          </a:prstGeom>
          <a:noFill/>
        </p:spPr>
        <p:txBody>
          <a:bodyPr wrap="square" lIns="0" rIns="0" tIns="0" bIns="0" anchor="t">
            <a:spAutoFit/>
          </a:bodyPr>
          <a:lstStyle/>
          <a:p>
            <a:pPr algn="l"/>
            <a:r>
              <a:rPr sz="1400" b="0">
                <a:solidFill>
                  <a:srgbClr val="94A3B8"/>
                </a:solidFill>
                <a:latin typeface="Calibri"/>
              </a:rPr>
              <a:t>Today she has none of these levers. After OpenRAROC she has all of them.</a:t>
            </a:r>
          </a:p>
        </p:txBody>
      </p:sp>
      <p:sp>
        <p:nvSpPr>
          <p:cNvPr id="5" name="TextBox 4"/>
          <p:cNvSpPr txBox="1"/>
          <p:nvPr/>
        </p:nvSpPr>
        <p:spPr>
          <a:xfrm>
            <a:off x="457200" y="6400800"/>
            <a:ext cx="6400800" cy="274320"/>
          </a:xfrm>
          <a:prstGeom prst="rect">
            <a:avLst/>
          </a:prstGeom>
          <a:noFill/>
        </p:spPr>
        <p:txBody>
          <a:bodyPr wrap="square" lIns="0" rIns="0" tIns="0" bIns="0" anchor="t">
            <a:spAutoFit/>
          </a:bodyPr>
          <a:lstStyle/>
          <a:p>
            <a:pPr algn="l"/>
            <a:r>
              <a:rPr sz="1000" b="0">
                <a:solidFill>
                  <a:srgbClr val="64748B"/>
                </a:solidFill>
                <a:latin typeface="Calibri"/>
              </a:rPr>
              <a:t>OpenRAROC  •  See your credit through your banker's eyes</a:t>
            </a:r>
          </a:p>
        </p:txBody>
      </p:sp>
      <p:sp>
        <p:nvSpPr>
          <p:cNvPr id="6" name="TextBox 5"/>
          <p:cNvSpPr txBox="1"/>
          <p:nvPr/>
        </p:nvSpPr>
        <p:spPr>
          <a:xfrm>
            <a:off x="10058400" y="6400800"/>
            <a:ext cx="1828800" cy="274320"/>
          </a:xfrm>
          <a:prstGeom prst="rect">
            <a:avLst/>
          </a:prstGeom>
          <a:noFill/>
        </p:spPr>
        <p:txBody>
          <a:bodyPr wrap="square" lIns="0" rIns="0" tIns="0" bIns="0" anchor="t">
            <a:spAutoFit/>
          </a:bodyPr>
          <a:lstStyle/>
          <a:p>
            <a:pPr algn="r"/>
            <a:r>
              <a:rPr sz="1000" b="0">
                <a:solidFill>
                  <a:srgbClr val="64748B"/>
                </a:solidFill>
                <a:latin typeface="Calibri"/>
              </a:rPr>
              <a:t>11 / 12</a:t>
            </a:r>
          </a:p>
        </p:txBody>
      </p:sp>
      <p:sp>
        <p:nvSpPr>
          <p:cNvPr id="7" name="Rectangle 6"/>
          <p:cNvSpPr/>
          <p:nvPr/>
        </p:nvSpPr>
        <p:spPr>
          <a:xfrm>
            <a:off x="457200" y="1920240"/>
            <a:ext cx="3657600" cy="4114800"/>
          </a:xfrm>
          <a:prstGeom prst="rect">
            <a:avLst/>
          </a:prstGeom>
          <a:solidFill>
            <a:srgbClr val="1E293B"/>
          </a:solidFill>
          <a:ln w="1905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2103120"/>
            <a:ext cx="3291840" cy="365760"/>
          </a:xfrm>
          <a:prstGeom prst="rect">
            <a:avLst/>
          </a:prstGeom>
          <a:noFill/>
        </p:spPr>
        <p:txBody>
          <a:bodyPr wrap="square" lIns="0" rIns="0" tIns="0" bIns="0" anchor="t">
            <a:spAutoFit/>
          </a:bodyPr>
          <a:lstStyle/>
          <a:p>
            <a:pPr algn="l"/>
            <a:r>
              <a:rPr sz="1300" b="1">
                <a:solidFill>
                  <a:srgbClr val="38BDF8"/>
                </a:solidFill>
                <a:latin typeface="Calibri"/>
              </a:rPr>
              <a:t>BNP matches at 143</a:t>
            </a:r>
          </a:p>
        </p:txBody>
      </p:sp>
      <p:sp>
        <p:nvSpPr>
          <p:cNvPr id="9" name="TextBox 8"/>
          <p:cNvSpPr txBox="1"/>
          <p:nvPr/>
        </p:nvSpPr>
        <p:spPr>
          <a:xfrm>
            <a:off x="685800" y="2606040"/>
            <a:ext cx="3291840" cy="3291840"/>
          </a:xfrm>
          <a:prstGeom prst="rect">
            <a:avLst/>
          </a:prstGeom>
          <a:noFill/>
        </p:spPr>
        <p:txBody>
          <a:bodyPr wrap="square" lIns="0" rIns="0" tIns="0" bIns="0">
            <a:spAutoFit/>
          </a:bodyPr>
          <a:lstStyle/>
          <a:p>
            <a:pPr>
              <a:lnSpc>
                <a:spcPct val="130000"/>
              </a:lnSpc>
              <a:spcAft>
                <a:spcPts val="800"/>
              </a:spcAft>
            </a:pPr>
            <a:r>
              <a:rPr sz="1100">
                <a:solidFill>
                  <a:srgbClr val="E2E8F0"/>
                </a:solidFill>
                <a:latin typeface="Calibri"/>
              </a:rPr>
              <a:t>•  Spread cut from 150 → 143 bp.</a:t>
            </a:r>
          </a:p>
          <a:p>
            <a:pPr>
              <a:lnSpc>
                <a:spcPct val="130000"/>
              </a:lnSpc>
              <a:spcAft>
                <a:spcPts val="800"/>
              </a:spcAft>
            </a:pPr>
            <a:r>
              <a:rPr sz="1100">
                <a:solidFill>
                  <a:srgbClr val="E2E8F0"/>
                </a:solidFill>
                <a:latin typeface="Calibri"/>
              </a:rPr>
              <a:t>•  Saving: EUR 23k / year × 5 yrs = EUR 116k locked in.</a:t>
            </a:r>
          </a:p>
          <a:p>
            <a:pPr>
              <a:lnSpc>
                <a:spcPct val="130000"/>
              </a:lnSpc>
              <a:spcAft>
                <a:spcPts val="800"/>
              </a:spcAft>
            </a:pPr>
            <a:r>
              <a:rPr sz="1100">
                <a:solidFill>
                  <a:srgbClr val="E2E8F0"/>
                </a:solidFill>
                <a:latin typeface="Calibri"/>
              </a:rPr>
              <a:t>•  Relationship intact. Cleanest outcome.</a:t>
            </a:r>
          </a:p>
        </p:txBody>
      </p:sp>
      <p:sp>
        <p:nvSpPr>
          <p:cNvPr id="10" name="Rectangle 9"/>
          <p:cNvSpPr/>
          <p:nvPr/>
        </p:nvSpPr>
        <p:spPr>
          <a:xfrm>
            <a:off x="4370832" y="1920240"/>
            <a:ext cx="3657600" cy="4114800"/>
          </a:xfrm>
          <a:prstGeom prst="rect">
            <a:avLst/>
          </a:prstGeom>
          <a:solidFill>
            <a:srgbClr val="1E293B"/>
          </a:solidFill>
          <a:ln w="1905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99432" y="2103120"/>
            <a:ext cx="3291840" cy="365760"/>
          </a:xfrm>
          <a:prstGeom prst="rect">
            <a:avLst/>
          </a:prstGeom>
          <a:noFill/>
        </p:spPr>
        <p:txBody>
          <a:bodyPr wrap="square" lIns="0" rIns="0" tIns="0" bIns="0" anchor="t">
            <a:spAutoFit/>
          </a:bodyPr>
          <a:lstStyle/>
          <a:p>
            <a:pPr algn="l"/>
            <a:r>
              <a:rPr sz="1300" b="1">
                <a:solidFill>
                  <a:srgbClr val="22C55E"/>
                </a:solidFill>
                <a:latin typeface="Calibri"/>
              </a:rPr>
              <a:t>BNP bundles at 135</a:t>
            </a:r>
          </a:p>
        </p:txBody>
      </p:sp>
      <p:sp>
        <p:nvSpPr>
          <p:cNvPr id="12" name="TextBox 11"/>
          <p:cNvSpPr txBox="1"/>
          <p:nvPr/>
        </p:nvSpPr>
        <p:spPr>
          <a:xfrm>
            <a:off x="4599432" y="2606040"/>
            <a:ext cx="3291840" cy="3291840"/>
          </a:xfrm>
          <a:prstGeom prst="rect">
            <a:avLst/>
          </a:prstGeom>
          <a:noFill/>
        </p:spPr>
        <p:txBody>
          <a:bodyPr wrap="square" lIns="0" rIns="0" tIns="0" bIns="0">
            <a:spAutoFit/>
          </a:bodyPr>
          <a:lstStyle/>
          <a:p>
            <a:pPr>
              <a:lnSpc>
                <a:spcPct val="130000"/>
              </a:lnSpc>
              <a:spcAft>
                <a:spcPts val="800"/>
              </a:spcAft>
            </a:pPr>
            <a:r>
              <a:rPr sz="1100">
                <a:solidFill>
                  <a:srgbClr val="E2E8F0"/>
                </a:solidFill>
                <a:latin typeface="Calibri"/>
              </a:rPr>
              <a:t>•  RM offers 135 bp + concession on FX &amp; cash mandate.</a:t>
            </a:r>
          </a:p>
          <a:p>
            <a:pPr>
              <a:lnSpc>
                <a:spcPct val="130000"/>
              </a:lnSpc>
              <a:spcAft>
                <a:spcPts val="800"/>
              </a:spcAft>
            </a:pPr>
            <a:r>
              <a:rPr sz="1100">
                <a:solidFill>
                  <a:srgbClr val="E2E8F0"/>
                </a:solidFill>
                <a:latin typeface="Calibri"/>
              </a:rPr>
              <a:t>•  Wallet RAROC stays &gt; 12% across the relationship.</a:t>
            </a:r>
          </a:p>
          <a:p>
            <a:pPr>
              <a:lnSpc>
                <a:spcPct val="130000"/>
              </a:lnSpc>
              <a:spcAft>
                <a:spcPts val="800"/>
              </a:spcAft>
            </a:pPr>
            <a:r>
              <a:rPr sz="1100">
                <a:solidFill>
                  <a:srgbClr val="E2E8F0"/>
                </a:solidFill>
                <a:latin typeface="Calibri"/>
              </a:rPr>
              <a:t>•  Saving: ~EUR 75k / year + locked-in FX pricing. Best case.</a:t>
            </a:r>
          </a:p>
        </p:txBody>
      </p:sp>
      <p:sp>
        <p:nvSpPr>
          <p:cNvPr id="13" name="Rectangle 12"/>
          <p:cNvSpPr/>
          <p:nvPr/>
        </p:nvSpPr>
        <p:spPr>
          <a:xfrm>
            <a:off x="8275320" y="1920240"/>
            <a:ext cx="3657600" cy="4114800"/>
          </a:xfrm>
          <a:prstGeom prst="rect">
            <a:avLst/>
          </a:prstGeom>
          <a:solidFill>
            <a:srgbClr val="1E293B"/>
          </a:solidFill>
          <a:ln w="19050">
            <a:solidFill>
              <a:srgbClr val="EAB3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3920" y="2103120"/>
            <a:ext cx="3291840" cy="365760"/>
          </a:xfrm>
          <a:prstGeom prst="rect">
            <a:avLst/>
          </a:prstGeom>
          <a:noFill/>
        </p:spPr>
        <p:txBody>
          <a:bodyPr wrap="square" lIns="0" rIns="0" tIns="0" bIns="0" anchor="t">
            <a:spAutoFit/>
          </a:bodyPr>
          <a:lstStyle/>
          <a:p>
            <a:pPr algn="l"/>
            <a:r>
              <a:rPr sz="1300" b="1">
                <a:solidFill>
                  <a:srgbClr val="EAB308"/>
                </a:solidFill>
                <a:latin typeface="Calibri"/>
              </a:rPr>
              <a:t>BNP holds at 150</a:t>
            </a:r>
          </a:p>
        </p:txBody>
      </p:sp>
      <p:sp>
        <p:nvSpPr>
          <p:cNvPr id="15" name="TextBox 14"/>
          <p:cNvSpPr txBox="1"/>
          <p:nvPr/>
        </p:nvSpPr>
        <p:spPr>
          <a:xfrm>
            <a:off x="8503920" y="2606040"/>
            <a:ext cx="3291840" cy="3291840"/>
          </a:xfrm>
          <a:prstGeom prst="rect">
            <a:avLst/>
          </a:prstGeom>
          <a:noFill/>
        </p:spPr>
        <p:txBody>
          <a:bodyPr wrap="square" lIns="0" rIns="0" tIns="0" bIns="0">
            <a:spAutoFit/>
          </a:bodyPr>
          <a:lstStyle/>
          <a:p>
            <a:pPr>
              <a:lnSpc>
                <a:spcPct val="130000"/>
              </a:lnSpc>
              <a:spcAft>
                <a:spcPts val="800"/>
              </a:spcAft>
            </a:pPr>
            <a:r>
              <a:rPr sz="1100">
                <a:solidFill>
                  <a:srgbClr val="E2E8F0"/>
                </a:solidFill>
                <a:latin typeface="Calibri"/>
              </a:rPr>
              <a:t>•  BNP refuses. Sabine takes the file to ING (12.25% at 150).</a:t>
            </a:r>
          </a:p>
          <a:p>
            <a:pPr>
              <a:lnSpc>
                <a:spcPct val="130000"/>
              </a:lnSpc>
              <a:spcAft>
                <a:spcPts val="800"/>
              </a:spcAft>
            </a:pPr>
            <a:r>
              <a:rPr sz="1100">
                <a:solidFill>
                  <a:srgbClr val="E2E8F0"/>
                </a:solidFill>
                <a:latin typeface="Calibri"/>
              </a:rPr>
              <a:t>•  BNP loses the renewal but keeps cash management.</a:t>
            </a:r>
          </a:p>
          <a:p>
            <a:pPr>
              <a:lnSpc>
                <a:spcPct val="130000"/>
              </a:lnSpc>
              <a:spcAft>
                <a:spcPts val="800"/>
              </a:spcAft>
            </a:pPr>
            <a:r>
              <a:rPr sz="1100">
                <a:solidFill>
                  <a:srgbClr val="E2E8F0"/>
                </a:solidFill>
                <a:latin typeface="Calibri"/>
              </a:rPr>
              <a:t>•  Sabine still wins — better pricing at a different bank.</a:t>
            </a:r>
          </a:p>
        </p:txBody>
      </p:sp>
      <p:sp>
        <p:nvSpPr>
          <p:cNvPr id="16" name="TextBox 15"/>
          <p:cNvSpPr txBox="1"/>
          <p:nvPr/>
        </p:nvSpPr>
        <p:spPr>
          <a:xfrm>
            <a:off x="457200" y="6126480"/>
            <a:ext cx="10972800" cy="365760"/>
          </a:xfrm>
          <a:prstGeom prst="rect">
            <a:avLst/>
          </a:prstGeom>
          <a:noFill/>
        </p:spPr>
        <p:txBody>
          <a:bodyPr wrap="square" lIns="0" rIns="0" tIns="0" bIns="0" anchor="t">
            <a:spAutoFit/>
          </a:bodyPr>
          <a:lstStyle/>
          <a:p>
            <a:pPr algn="ctr"/>
            <a:r>
              <a:rPr sz="1200" b="0">
                <a:solidFill>
                  <a:srgbClr val="94A3B8"/>
                </a:solidFill>
                <a:latin typeface="Calibri"/>
              </a:rPr>
              <a:t>The deal still gets done. The question is whether you're driving the conversation or being driven by it.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ounded Rectangle 1"/>
          <p:cNvSpPr/>
          <p:nvPr/>
        </p:nvSpPr>
        <p:spPr>
          <a:xfrm>
            <a:off x="457200" y="365760"/>
            <a:ext cx="1645920" cy="292608"/>
          </a:xfrm>
          <a:prstGeom prst="roundRect">
            <a:avLst>
              <a:gd name="adj" fmla="val 50000"/>
            </a:avLst>
          </a:prstGeom>
          <a:solidFill>
            <a:srgbClr val="1E293B"/>
          </a:solidFill>
          <a:ln w="9525">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38BDF8"/>
                </a:solidFill>
                <a:latin typeface="Calibri"/>
              </a:rPr>
              <a:t>WHAT'S NEXT</a:t>
            </a:r>
          </a:p>
        </p:txBody>
      </p:sp>
      <p:sp>
        <p:nvSpPr>
          <p:cNvPr id="3" name="TextBox 2"/>
          <p:cNvSpPr txBox="1"/>
          <p:nvPr/>
        </p:nvSpPr>
        <p:spPr>
          <a:xfrm>
            <a:off x="457200" y="777240"/>
            <a:ext cx="10972800" cy="640080"/>
          </a:xfrm>
          <a:prstGeom prst="rect">
            <a:avLst/>
          </a:prstGeom>
          <a:noFill/>
        </p:spPr>
        <p:txBody>
          <a:bodyPr wrap="square" lIns="0" rIns="0" tIns="0" bIns="0" anchor="t">
            <a:spAutoFit/>
          </a:bodyPr>
          <a:lstStyle/>
          <a:p>
            <a:pPr algn="l"/>
            <a:r>
              <a:rPr sz="3000" b="1">
                <a:solidFill>
                  <a:srgbClr val="FFFFFF"/>
                </a:solidFill>
                <a:latin typeface="Calibri"/>
              </a:rPr>
              <a:t>Two doors. Pick the one for your role.</a:t>
            </a:r>
          </a:p>
        </p:txBody>
      </p:sp>
      <p:sp>
        <p:nvSpPr>
          <p:cNvPr id="4" name="TextBox 3"/>
          <p:cNvSpPr txBox="1"/>
          <p:nvPr/>
        </p:nvSpPr>
        <p:spPr>
          <a:xfrm>
            <a:off x="457200" y="1371600"/>
            <a:ext cx="10972800" cy="365760"/>
          </a:xfrm>
          <a:prstGeom prst="rect">
            <a:avLst/>
          </a:prstGeom>
          <a:noFill/>
        </p:spPr>
        <p:txBody>
          <a:bodyPr wrap="square" lIns="0" rIns="0" tIns="0" bIns="0" anchor="t">
            <a:spAutoFit/>
          </a:bodyPr>
          <a:lstStyle/>
          <a:p>
            <a:pPr algn="l"/>
            <a:r>
              <a:rPr sz="1400" b="0">
                <a:solidFill>
                  <a:srgbClr val="94A3B8"/>
                </a:solidFill>
                <a:latin typeface="Calibri"/>
              </a:rPr>
              <a:t>Both open today. No procurement cycle.</a:t>
            </a:r>
          </a:p>
        </p:txBody>
      </p:sp>
      <p:sp>
        <p:nvSpPr>
          <p:cNvPr id="5" name="TextBox 4"/>
          <p:cNvSpPr txBox="1"/>
          <p:nvPr/>
        </p:nvSpPr>
        <p:spPr>
          <a:xfrm>
            <a:off x="457200" y="6400800"/>
            <a:ext cx="6400800" cy="274320"/>
          </a:xfrm>
          <a:prstGeom prst="rect">
            <a:avLst/>
          </a:prstGeom>
          <a:noFill/>
        </p:spPr>
        <p:txBody>
          <a:bodyPr wrap="square" lIns="0" rIns="0" tIns="0" bIns="0" anchor="t">
            <a:spAutoFit/>
          </a:bodyPr>
          <a:lstStyle/>
          <a:p>
            <a:pPr algn="l"/>
            <a:r>
              <a:rPr sz="1000" b="0">
                <a:solidFill>
                  <a:srgbClr val="64748B"/>
                </a:solidFill>
                <a:latin typeface="Calibri"/>
              </a:rPr>
              <a:t>OpenRAROC  •  See your credit through your banker's eyes</a:t>
            </a:r>
          </a:p>
        </p:txBody>
      </p:sp>
      <p:sp>
        <p:nvSpPr>
          <p:cNvPr id="6" name="TextBox 5"/>
          <p:cNvSpPr txBox="1"/>
          <p:nvPr/>
        </p:nvSpPr>
        <p:spPr>
          <a:xfrm>
            <a:off x="10058400" y="6400800"/>
            <a:ext cx="1828800" cy="274320"/>
          </a:xfrm>
          <a:prstGeom prst="rect">
            <a:avLst/>
          </a:prstGeom>
          <a:noFill/>
        </p:spPr>
        <p:txBody>
          <a:bodyPr wrap="square" lIns="0" rIns="0" tIns="0" bIns="0" anchor="t">
            <a:spAutoFit/>
          </a:bodyPr>
          <a:lstStyle/>
          <a:p>
            <a:pPr algn="r"/>
            <a:r>
              <a:rPr sz="1000" b="0">
                <a:solidFill>
                  <a:srgbClr val="64748B"/>
                </a:solidFill>
                <a:latin typeface="Calibri"/>
              </a:rPr>
              <a:t>12 / 12</a:t>
            </a:r>
          </a:p>
        </p:txBody>
      </p:sp>
      <p:sp>
        <p:nvSpPr>
          <p:cNvPr id="7" name="Rectangle 6"/>
          <p:cNvSpPr/>
          <p:nvPr/>
        </p:nvSpPr>
        <p:spPr>
          <a:xfrm>
            <a:off x="457200" y="1920240"/>
            <a:ext cx="5577840" cy="4160520"/>
          </a:xfrm>
          <a:prstGeom prst="rect">
            <a:avLst/>
          </a:prstGeom>
          <a:solidFill>
            <a:srgbClr val="1E293B"/>
          </a:solidFill>
          <a:ln w="1905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2103120"/>
            <a:ext cx="5029200" cy="365760"/>
          </a:xfrm>
          <a:prstGeom prst="rect">
            <a:avLst/>
          </a:prstGeom>
          <a:noFill/>
        </p:spPr>
        <p:txBody>
          <a:bodyPr wrap="square" lIns="0" rIns="0" tIns="0" bIns="0" anchor="t">
            <a:spAutoFit/>
          </a:bodyPr>
          <a:lstStyle/>
          <a:p>
            <a:pPr algn="l"/>
            <a:r>
              <a:rPr sz="1100" b="1">
                <a:solidFill>
                  <a:srgbClr val="38BDF8"/>
                </a:solidFill>
                <a:latin typeface="Calibri"/>
              </a:rPr>
              <a:t>FOR YOUR COMPANY</a:t>
            </a:r>
          </a:p>
        </p:txBody>
      </p:sp>
      <p:sp>
        <p:nvSpPr>
          <p:cNvPr id="9" name="TextBox 8"/>
          <p:cNvSpPr txBox="1"/>
          <p:nvPr/>
        </p:nvSpPr>
        <p:spPr>
          <a:xfrm>
            <a:off x="685800" y="2423160"/>
            <a:ext cx="5029200" cy="548640"/>
          </a:xfrm>
          <a:prstGeom prst="rect">
            <a:avLst/>
          </a:prstGeom>
          <a:noFill/>
        </p:spPr>
        <p:txBody>
          <a:bodyPr wrap="square" lIns="0" rIns="0" tIns="0" bIns="0" anchor="t">
            <a:spAutoFit/>
          </a:bodyPr>
          <a:lstStyle/>
          <a:p>
            <a:pPr algn="l"/>
            <a:r>
              <a:rPr sz="2200" b="1">
                <a:solidFill>
                  <a:srgbClr val="FFFFFF"/>
                </a:solidFill>
                <a:latin typeface="Calibri"/>
              </a:rPr>
              <a:t>Use the tool</a:t>
            </a:r>
          </a:p>
        </p:txBody>
      </p:sp>
      <p:sp>
        <p:nvSpPr>
          <p:cNvPr id="10" name="TextBox 9"/>
          <p:cNvSpPr txBox="1"/>
          <p:nvPr/>
        </p:nvSpPr>
        <p:spPr>
          <a:xfrm>
            <a:off x="685800" y="2971800"/>
            <a:ext cx="5029200" cy="365760"/>
          </a:xfrm>
          <a:prstGeom prst="rect">
            <a:avLst/>
          </a:prstGeom>
          <a:noFill/>
        </p:spPr>
        <p:txBody>
          <a:bodyPr wrap="square" lIns="0" rIns="0" tIns="0" bIns="0" anchor="t">
            <a:spAutoFit/>
          </a:bodyPr>
          <a:lstStyle/>
          <a:p>
            <a:pPr algn="l"/>
            <a:r>
              <a:rPr sz="1100" b="0">
                <a:solidFill>
                  <a:srgbClr val="94A3B8"/>
                </a:solidFill>
                <a:latin typeface="Calibri"/>
              </a:rPr>
              <a:t>Treasurers, CFOs, finance directors</a:t>
            </a:r>
          </a:p>
        </p:txBody>
      </p:sp>
      <p:sp>
        <p:nvSpPr>
          <p:cNvPr id="11" name="TextBox 10"/>
          <p:cNvSpPr txBox="1"/>
          <p:nvPr/>
        </p:nvSpPr>
        <p:spPr>
          <a:xfrm>
            <a:off x="685800" y="3520440"/>
            <a:ext cx="5029200" cy="274320"/>
          </a:xfrm>
          <a:prstGeom prst="rect">
            <a:avLst/>
          </a:prstGeom>
          <a:noFill/>
        </p:spPr>
        <p:txBody>
          <a:bodyPr wrap="square" lIns="0" rIns="0" tIns="0" bIns="0" anchor="t">
            <a:spAutoFit/>
          </a:bodyPr>
          <a:lstStyle/>
          <a:p>
            <a:pPr algn="l"/>
            <a:r>
              <a:rPr sz="1100" b="1">
                <a:solidFill>
                  <a:srgbClr val="38BDF8"/>
                </a:solidFill>
                <a:latin typeface="Calibri"/>
              </a:rPr>
              <a:t>Free tier</a:t>
            </a:r>
          </a:p>
        </p:txBody>
      </p:sp>
      <p:sp>
        <p:nvSpPr>
          <p:cNvPr id="12" name="TextBox 11"/>
          <p:cNvSpPr txBox="1"/>
          <p:nvPr/>
        </p:nvSpPr>
        <p:spPr>
          <a:xfrm>
            <a:off x="685800" y="3776472"/>
            <a:ext cx="5029200" cy="365760"/>
          </a:xfrm>
          <a:prstGeom prst="rect">
            <a:avLst/>
          </a:prstGeom>
          <a:noFill/>
        </p:spPr>
        <p:txBody>
          <a:bodyPr wrap="square" lIns="0" rIns="0" tIns="0" bIns="0" anchor="t">
            <a:spAutoFit/>
          </a:bodyPr>
          <a:lstStyle/>
          <a:p>
            <a:pPr algn="l"/>
            <a:r>
              <a:rPr sz="1000" b="0">
                <a:solidFill>
                  <a:srgbClr val="94A3B8"/>
                </a:solidFill>
                <a:latin typeface="Calibri"/>
              </a:rPr>
              <a:t>4 banks. Full calculator, comparison, sensitivity. Enough for a single facility.</a:t>
            </a:r>
          </a:p>
        </p:txBody>
      </p:sp>
      <p:sp>
        <p:nvSpPr>
          <p:cNvPr id="13" name="TextBox 12"/>
          <p:cNvSpPr txBox="1"/>
          <p:nvPr/>
        </p:nvSpPr>
        <p:spPr>
          <a:xfrm>
            <a:off x="685800" y="4142232"/>
            <a:ext cx="5029200" cy="274320"/>
          </a:xfrm>
          <a:prstGeom prst="rect">
            <a:avLst/>
          </a:prstGeom>
          <a:noFill/>
        </p:spPr>
        <p:txBody>
          <a:bodyPr wrap="square" lIns="0" rIns="0" tIns="0" bIns="0" anchor="t">
            <a:spAutoFit/>
          </a:bodyPr>
          <a:lstStyle/>
          <a:p>
            <a:pPr algn="l"/>
            <a:r>
              <a:rPr sz="1100" b="1">
                <a:solidFill>
                  <a:srgbClr val="38BDF8"/>
                </a:solidFill>
                <a:latin typeface="Calibri"/>
              </a:rPr>
              <a:t>Pro — EUR 49 / year</a:t>
            </a:r>
          </a:p>
        </p:txBody>
      </p:sp>
      <p:sp>
        <p:nvSpPr>
          <p:cNvPr id="14" name="TextBox 13"/>
          <p:cNvSpPr txBox="1"/>
          <p:nvPr/>
        </p:nvSpPr>
        <p:spPr>
          <a:xfrm>
            <a:off x="685800" y="4398264"/>
            <a:ext cx="5029200" cy="365760"/>
          </a:xfrm>
          <a:prstGeom prst="rect">
            <a:avLst/>
          </a:prstGeom>
          <a:noFill/>
        </p:spPr>
        <p:txBody>
          <a:bodyPr wrap="square" lIns="0" rIns="0" tIns="0" bIns="0" anchor="t">
            <a:spAutoFit/>
          </a:bodyPr>
          <a:lstStyle/>
          <a:p>
            <a:pPr algn="l"/>
            <a:r>
              <a:rPr sz="1000" b="0">
                <a:solidFill>
                  <a:srgbClr val="94A3B8"/>
                </a:solidFill>
                <a:latin typeface="Calibri"/>
              </a:rPr>
              <a:t>All 59 banks. Portfolio optimizer. PDF reports for the credit committee. API + CLI access.</a:t>
            </a:r>
          </a:p>
        </p:txBody>
      </p:sp>
      <p:sp>
        <p:nvSpPr>
          <p:cNvPr id="15" name="TextBox 14"/>
          <p:cNvSpPr txBox="1"/>
          <p:nvPr/>
        </p:nvSpPr>
        <p:spPr>
          <a:xfrm>
            <a:off x="685800" y="4764024"/>
            <a:ext cx="5029200" cy="274320"/>
          </a:xfrm>
          <a:prstGeom prst="rect">
            <a:avLst/>
          </a:prstGeom>
          <a:noFill/>
        </p:spPr>
        <p:txBody>
          <a:bodyPr wrap="square" lIns="0" rIns="0" tIns="0" bIns="0" anchor="t">
            <a:spAutoFit/>
          </a:bodyPr>
          <a:lstStyle/>
          <a:p>
            <a:pPr algn="l"/>
            <a:r>
              <a:rPr sz="1100" b="1">
                <a:solidFill>
                  <a:srgbClr val="38BDF8"/>
                </a:solidFill>
                <a:latin typeface="Calibri"/>
              </a:rPr>
              <a:t>Onboarding</a:t>
            </a:r>
          </a:p>
        </p:txBody>
      </p:sp>
      <p:sp>
        <p:nvSpPr>
          <p:cNvPr id="16" name="TextBox 15"/>
          <p:cNvSpPr txBox="1"/>
          <p:nvPr/>
        </p:nvSpPr>
        <p:spPr>
          <a:xfrm>
            <a:off x="685800" y="5020056"/>
            <a:ext cx="5029200" cy="365760"/>
          </a:xfrm>
          <a:prstGeom prst="rect">
            <a:avLst/>
          </a:prstGeom>
          <a:noFill/>
        </p:spPr>
        <p:txBody>
          <a:bodyPr wrap="square" lIns="0" rIns="0" tIns="0" bIns="0" anchor="t">
            <a:spAutoFit/>
          </a:bodyPr>
          <a:lstStyle/>
          <a:p>
            <a:pPr algn="l"/>
            <a:r>
              <a:rPr sz="1000" b="0">
                <a:solidFill>
                  <a:srgbClr val="94A3B8"/>
                </a:solidFill>
                <a:latin typeface="Calibri"/>
              </a:rPr>
              <a:t>30 minutes from sign-up to your first bank comparison. No procurement cycle at this price.</a:t>
            </a:r>
          </a:p>
        </p:txBody>
      </p:sp>
      <p:sp>
        <p:nvSpPr>
          <p:cNvPr id="17" name="TextBox 16"/>
          <p:cNvSpPr txBox="1"/>
          <p:nvPr/>
        </p:nvSpPr>
        <p:spPr>
          <a:xfrm>
            <a:off x="685800" y="5385816"/>
            <a:ext cx="5029200" cy="274320"/>
          </a:xfrm>
          <a:prstGeom prst="rect">
            <a:avLst/>
          </a:prstGeom>
          <a:noFill/>
        </p:spPr>
        <p:txBody>
          <a:bodyPr wrap="square" lIns="0" rIns="0" tIns="0" bIns="0" anchor="t">
            <a:spAutoFit/>
          </a:bodyPr>
          <a:lstStyle/>
          <a:p>
            <a:pPr algn="l"/>
            <a:r>
              <a:rPr sz="1100" b="1">
                <a:solidFill>
                  <a:srgbClr val="38BDF8"/>
                </a:solidFill>
                <a:latin typeface="Calibri"/>
              </a:rPr>
              <a:t>Try right now</a:t>
            </a:r>
          </a:p>
        </p:txBody>
      </p:sp>
      <p:sp>
        <p:nvSpPr>
          <p:cNvPr id="18" name="TextBox 17"/>
          <p:cNvSpPr txBox="1"/>
          <p:nvPr/>
        </p:nvSpPr>
        <p:spPr>
          <a:xfrm>
            <a:off x="685800" y="5641848"/>
            <a:ext cx="5029200" cy="365760"/>
          </a:xfrm>
          <a:prstGeom prst="rect">
            <a:avLst/>
          </a:prstGeom>
          <a:noFill/>
        </p:spPr>
        <p:txBody>
          <a:bodyPr wrap="square" lIns="0" rIns="0" tIns="0" bIns="0" anchor="t">
            <a:spAutoFit/>
          </a:bodyPr>
          <a:lstStyle/>
          <a:p>
            <a:pPr algn="l"/>
            <a:r>
              <a:rPr sz="1000" b="0">
                <a:solidFill>
                  <a:srgbClr val="94A3B8"/>
                </a:solidFill>
                <a:latin typeface="Calibri"/>
              </a:rPr>
              <a:t>openraroc.com — runs on your laptop, no install, no card on file for the free tier.</a:t>
            </a:r>
          </a:p>
        </p:txBody>
      </p:sp>
      <p:sp>
        <p:nvSpPr>
          <p:cNvPr id="19" name="Rectangle 18"/>
          <p:cNvSpPr/>
          <p:nvPr/>
        </p:nvSpPr>
        <p:spPr>
          <a:xfrm>
            <a:off x="6263640" y="1920240"/>
            <a:ext cx="5486400" cy="4160520"/>
          </a:xfrm>
          <a:prstGeom prst="rect">
            <a:avLst/>
          </a:prstGeom>
          <a:solidFill>
            <a:srgbClr val="1E293B"/>
          </a:solidFill>
          <a:ln w="1905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92240" y="2103120"/>
            <a:ext cx="5029200" cy="365760"/>
          </a:xfrm>
          <a:prstGeom prst="rect">
            <a:avLst/>
          </a:prstGeom>
          <a:noFill/>
        </p:spPr>
        <p:txBody>
          <a:bodyPr wrap="square" lIns="0" rIns="0" tIns="0" bIns="0" anchor="t">
            <a:spAutoFit/>
          </a:bodyPr>
          <a:lstStyle/>
          <a:p>
            <a:pPr algn="l"/>
            <a:r>
              <a:rPr sz="1100" b="1">
                <a:solidFill>
                  <a:srgbClr val="22C55E"/>
                </a:solidFill>
                <a:latin typeface="Calibri"/>
              </a:rPr>
              <a:t>FOR YOUR FIRM</a:t>
            </a:r>
          </a:p>
        </p:txBody>
      </p:sp>
      <p:sp>
        <p:nvSpPr>
          <p:cNvPr id="21" name="TextBox 20"/>
          <p:cNvSpPr txBox="1"/>
          <p:nvPr/>
        </p:nvSpPr>
        <p:spPr>
          <a:xfrm>
            <a:off x="6492240" y="2423160"/>
            <a:ext cx="5029200" cy="548640"/>
          </a:xfrm>
          <a:prstGeom prst="rect">
            <a:avLst/>
          </a:prstGeom>
          <a:noFill/>
        </p:spPr>
        <p:txBody>
          <a:bodyPr wrap="square" lIns="0" rIns="0" tIns="0" bIns="0" anchor="t">
            <a:spAutoFit/>
          </a:bodyPr>
          <a:lstStyle/>
          <a:p>
            <a:pPr algn="l"/>
            <a:r>
              <a:rPr sz="2200" b="1">
                <a:solidFill>
                  <a:srgbClr val="FFFFFF"/>
                </a:solidFill>
                <a:latin typeface="Calibri"/>
              </a:rPr>
              <a:t>Bring it to your clients</a:t>
            </a:r>
          </a:p>
        </p:txBody>
      </p:sp>
      <p:sp>
        <p:nvSpPr>
          <p:cNvPr id="22" name="TextBox 21"/>
          <p:cNvSpPr txBox="1"/>
          <p:nvPr/>
        </p:nvSpPr>
        <p:spPr>
          <a:xfrm>
            <a:off x="6492240" y="2971800"/>
            <a:ext cx="5029200" cy="365760"/>
          </a:xfrm>
          <a:prstGeom prst="rect">
            <a:avLst/>
          </a:prstGeom>
          <a:noFill/>
        </p:spPr>
        <p:txBody>
          <a:bodyPr wrap="square" lIns="0" rIns="0" tIns="0" bIns="0" anchor="t">
            <a:spAutoFit/>
          </a:bodyPr>
          <a:lstStyle/>
          <a:p>
            <a:pPr algn="l"/>
            <a:r>
              <a:rPr sz="1100" b="0">
                <a:solidFill>
                  <a:srgbClr val="94A3B8"/>
                </a:solidFill>
                <a:latin typeface="Calibri"/>
              </a:rPr>
              <a:t>Treasury consultancies, debt advisors, fractional CFOs, accountants</a:t>
            </a:r>
          </a:p>
        </p:txBody>
      </p:sp>
      <p:sp>
        <p:nvSpPr>
          <p:cNvPr id="23" name="TextBox 22"/>
          <p:cNvSpPr txBox="1"/>
          <p:nvPr/>
        </p:nvSpPr>
        <p:spPr>
          <a:xfrm>
            <a:off x="6492240" y="3520440"/>
            <a:ext cx="5029200" cy="274320"/>
          </a:xfrm>
          <a:prstGeom prst="rect">
            <a:avLst/>
          </a:prstGeom>
          <a:noFill/>
        </p:spPr>
        <p:txBody>
          <a:bodyPr wrap="square" lIns="0" rIns="0" tIns="0" bIns="0" anchor="t">
            <a:spAutoFit/>
          </a:bodyPr>
          <a:lstStyle/>
          <a:p>
            <a:pPr algn="l"/>
            <a:r>
              <a:rPr sz="1100" b="1">
                <a:solidFill>
                  <a:srgbClr val="22C55E"/>
                </a:solidFill>
                <a:latin typeface="Calibri"/>
              </a:rPr>
              <a:t>Referral</a:t>
            </a:r>
          </a:p>
        </p:txBody>
      </p:sp>
      <p:sp>
        <p:nvSpPr>
          <p:cNvPr id="24" name="TextBox 23"/>
          <p:cNvSpPr txBox="1"/>
          <p:nvPr/>
        </p:nvSpPr>
        <p:spPr>
          <a:xfrm>
            <a:off x="6492240" y="3776472"/>
            <a:ext cx="5029200" cy="365760"/>
          </a:xfrm>
          <a:prstGeom prst="rect">
            <a:avLst/>
          </a:prstGeom>
          <a:noFill/>
        </p:spPr>
        <p:txBody>
          <a:bodyPr wrap="square" lIns="0" rIns="0" tIns="0" bIns="0" anchor="t">
            <a:spAutoFit/>
          </a:bodyPr>
          <a:lstStyle/>
          <a:p>
            <a:pPr algn="l"/>
            <a:r>
              <a:rPr sz="1000" b="0">
                <a:solidFill>
                  <a:srgbClr val="94A3B8"/>
                </a:solidFill>
                <a:latin typeface="Calibri"/>
              </a:rPr>
              <a:t>Send clients to openraroc.com with your tracking link. 20% recurring.</a:t>
            </a:r>
          </a:p>
        </p:txBody>
      </p:sp>
      <p:sp>
        <p:nvSpPr>
          <p:cNvPr id="25" name="TextBox 24"/>
          <p:cNvSpPr txBox="1"/>
          <p:nvPr/>
        </p:nvSpPr>
        <p:spPr>
          <a:xfrm>
            <a:off x="6492240" y="4142232"/>
            <a:ext cx="5029200" cy="274320"/>
          </a:xfrm>
          <a:prstGeom prst="rect">
            <a:avLst/>
          </a:prstGeom>
          <a:noFill/>
        </p:spPr>
        <p:txBody>
          <a:bodyPr wrap="square" lIns="0" rIns="0" tIns="0" bIns="0" anchor="t">
            <a:spAutoFit/>
          </a:bodyPr>
          <a:lstStyle/>
          <a:p>
            <a:pPr algn="l"/>
            <a:r>
              <a:rPr sz="1100" b="1">
                <a:solidFill>
                  <a:srgbClr val="22C55E"/>
                </a:solidFill>
                <a:latin typeface="Calibri"/>
              </a:rPr>
              <a:t>White-label</a:t>
            </a:r>
          </a:p>
        </p:txBody>
      </p:sp>
      <p:sp>
        <p:nvSpPr>
          <p:cNvPr id="26" name="TextBox 25"/>
          <p:cNvSpPr txBox="1"/>
          <p:nvPr/>
        </p:nvSpPr>
        <p:spPr>
          <a:xfrm>
            <a:off x="6492240" y="4398264"/>
            <a:ext cx="5029200" cy="365760"/>
          </a:xfrm>
          <a:prstGeom prst="rect">
            <a:avLst/>
          </a:prstGeom>
          <a:noFill/>
        </p:spPr>
        <p:txBody>
          <a:bodyPr wrap="square" lIns="0" rIns="0" tIns="0" bIns="0" anchor="t">
            <a:spAutoFit/>
          </a:bodyPr>
          <a:lstStyle/>
          <a:p>
            <a:pPr algn="l"/>
            <a:r>
              <a:rPr sz="1000" b="0">
                <a:solidFill>
                  <a:srgbClr val="94A3B8"/>
                </a:solidFill>
                <a:latin typeface="Calibri"/>
              </a:rPr>
              <a:t>Same engine and bank profiles, your brand, your domain. Annual licence.</a:t>
            </a:r>
          </a:p>
        </p:txBody>
      </p:sp>
      <p:sp>
        <p:nvSpPr>
          <p:cNvPr id="27" name="TextBox 26"/>
          <p:cNvSpPr txBox="1"/>
          <p:nvPr/>
        </p:nvSpPr>
        <p:spPr>
          <a:xfrm>
            <a:off x="6492240" y="4764024"/>
            <a:ext cx="5029200" cy="274320"/>
          </a:xfrm>
          <a:prstGeom prst="rect">
            <a:avLst/>
          </a:prstGeom>
          <a:noFill/>
        </p:spPr>
        <p:txBody>
          <a:bodyPr wrap="square" lIns="0" rIns="0" tIns="0" bIns="0" anchor="t">
            <a:spAutoFit/>
          </a:bodyPr>
          <a:lstStyle/>
          <a:p>
            <a:pPr algn="l"/>
            <a:r>
              <a:rPr sz="1100" b="1">
                <a:solidFill>
                  <a:srgbClr val="22C55E"/>
                </a:solidFill>
                <a:latin typeface="Calibri"/>
              </a:rPr>
              <a:t>OEM / embed</a:t>
            </a:r>
          </a:p>
        </p:txBody>
      </p:sp>
      <p:sp>
        <p:nvSpPr>
          <p:cNvPr id="28" name="TextBox 27"/>
          <p:cNvSpPr txBox="1"/>
          <p:nvPr/>
        </p:nvSpPr>
        <p:spPr>
          <a:xfrm>
            <a:off x="6492240" y="5020056"/>
            <a:ext cx="5029200" cy="365760"/>
          </a:xfrm>
          <a:prstGeom prst="rect">
            <a:avLst/>
          </a:prstGeom>
          <a:noFill/>
        </p:spPr>
        <p:txBody>
          <a:bodyPr wrap="square" lIns="0" rIns="0" tIns="0" bIns="0" anchor="t">
            <a:spAutoFit/>
          </a:bodyPr>
          <a:lstStyle/>
          <a:p>
            <a:pPr algn="l"/>
            <a:r>
              <a:rPr sz="1000" b="0">
                <a:solidFill>
                  <a:srgbClr val="94A3B8"/>
                </a:solidFill>
                <a:latin typeface="Calibri"/>
              </a:rPr>
              <a:t>Plug RAROC into your existing client portal via API + MCP server.</a:t>
            </a:r>
          </a:p>
        </p:txBody>
      </p:sp>
      <p:sp>
        <p:nvSpPr>
          <p:cNvPr id="29" name="TextBox 28"/>
          <p:cNvSpPr txBox="1"/>
          <p:nvPr/>
        </p:nvSpPr>
        <p:spPr>
          <a:xfrm>
            <a:off x="6492240" y="5385816"/>
            <a:ext cx="5029200" cy="274320"/>
          </a:xfrm>
          <a:prstGeom prst="rect">
            <a:avLst/>
          </a:prstGeom>
          <a:noFill/>
        </p:spPr>
        <p:txBody>
          <a:bodyPr wrap="square" lIns="0" rIns="0" tIns="0" bIns="0" anchor="t">
            <a:spAutoFit/>
          </a:bodyPr>
          <a:lstStyle/>
          <a:p>
            <a:pPr algn="l"/>
            <a:r>
              <a:rPr sz="1100" b="1">
                <a:solidFill>
                  <a:srgbClr val="22C55E"/>
                </a:solidFill>
                <a:latin typeface="Calibri"/>
              </a:rPr>
              <a:t>All three</a:t>
            </a:r>
          </a:p>
        </p:txBody>
      </p:sp>
      <p:sp>
        <p:nvSpPr>
          <p:cNvPr id="30" name="TextBox 29"/>
          <p:cNvSpPr txBox="1"/>
          <p:nvPr/>
        </p:nvSpPr>
        <p:spPr>
          <a:xfrm>
            <a:off x="6492240" y="5641848"/>
            <a:ext cx="5029200" cy="365760"/>
          </a:xfrm>
          <a:prstGeom prst="rect">
            <a:avLst/>
          </a:prstGeom>
          <a:noFill/>
        </p:spPr>
        <p:txBody>
          <a:bodyPr wrap="square" lIns="0" rIns="0" tIns="0" bIns="0" anchor="t">
            <a:spAutoFit/>
          </a:bodyPr>
          <a:lstStyle/>
          <a:p>
            <a:pPr algn="l"/>
            <a:r>
              <a:rPr sz="1000" b="0">
                <a:solidFill>
                  <a:srgbClr val="94A3B8"/>
                </a:solidFill>
                <a:latin typeface="Calibri"/>
              </a:rPr>
              <a:t>Start as a referrer this quarter; upgrade to white-label when you have 5+ active clients.</a:t>
            </a:r>
          </a:p>
        </p:txBody>
      </p:sp>
      <p:cxnSp>
        <p:nvCxnSpPr>
          <p:cNvPr id="31" name="Connector 30"/>
          <p:cNvCxnSpPr/>
          <p:nvPr/>
        </p:nvCxnSpPr>
        <p:spPr>
          <a:xfrm>
            <a:off x="457200" y="6199632"/>
            <a:ext cx="11274552" cy="0"/>
          </a:xfrm>
          <a:prstGeom prst="line">
            <a:avLst/>
          </a:prstGeom>
          <a:ln w="9525">
            <a:solidFill>
              <a:srgbClr val="475569"/>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457200" y="6263640"/>
            <a:ext cx="7315200" cy="274320"/>
          </a:xfrm>
          <a:prstGeom prst="rect">
            <a:avLst/>
          </a:prstGeom>
          <a:noFill/>
        </p:spPr>
        <p:txBody>
          <a:bodyPr wrap="square" lIns="0" rIns="0" tIns="0" bIns="0" anchor="t">
            <a:spAutoFit/>
          </a:bodyPr>
          <a:lstStyle/>
          <a:p>
            <a:pPr algn="l"/>
            <a:r>
              <a:rPr sz="1100" b="0">
                <a:solidFill>
                  <a:srgbClr val="94A3B8"/>
                </a:solidFill>
                <a:latin typeface="Calibri"/>
              </a:rPr>
              <a:t>Cyril Poder  •  cyril.poder@gmail.com  •  openraroc.com</a:t>
            </a:r>
          </a:p>
        </p:txBody>
      </p:sp>
      <p:sp>
        <p:nvSpPr>
          <p:cNvPr id="33" name="TextBox 32"/>
          <p:cNvSpPr txBox="1"/>
          <p:nvPr/>
        </p:nvSpPr>
        <p:spPr>
          <a:xfrm>
            <a:off x="10058400" y="6263640"/>
            <a:ext cx="1828800" cy="274320"/>
          </a:xfrm>
          <a:prstGeom prst="rect">
            <a:avLst/>
          </a:prstGeom>
          <a:noFill/>
        </p:spPr>
        <p:txBody>
          <a:bodyPr wrap="square" lIns="0" rIns="0" tIns="0" bIns="0" anchor="t">
            <a:spAutoFit/>
          </a:bodyPr>
          <a:lstStyle/>
          <a:p>
            <a:pPr algn="r"/>
            <a:r>
              <a:rPr sz="1200" b="1">
                <a:solidFill>
                  <a:srgbClr val="38BDF8"/>
                </a:solidFill>
                <a:latin typeface="Calibri"/>
              </a:rPr>
              <a:t>Q &amp; 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